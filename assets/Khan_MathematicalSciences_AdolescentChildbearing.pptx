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0b7707ee7e4099" /><Relationship Type="http://schemas.openxmlformats.org/officeDocument/2006/relationships/extended-properties" Target="/docProps/app.xml" Id="R2d11c9e8f74d4fc9" /><Relationship Type="http://schemas.openxmlformats.org/officeDocument/2006/relationships/officeDocument" Target="/ppt/presentation.xml" Id="R99578340e7b64d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e7d4161a474b32"/>
  </p:sldMasterIdLst>
  <p:notesMasterIdLst>
    <p:notesMasterId xmlns:r="http://schemas.openxmlformats.org/officeDocument/2006/relationships" r:id="Rc7d81c071ab84153"/>
  </p:notesMasterIdLst>
  <p:sldIdLst>
    <p:sldId xmlns:r="http://schemas.openxmlformats.org/officeDocument/2006/relationships" id="256" r:id="Rd7f567586e4941ca"/>
  </p:sldIdLst>
  <p:sldSz cx="43891200" cy="329184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8604639cc44baa" /><Relationship Type="http://schemas.openxmlformats.org/officeDocument/2006/relationships/slideMaster" Target="/ppt/slideMasters/slideMaster1.xml" Id="R77e7d4161a474b32" /><Relationship Type="http://schemas.openxmlformats.org/officeDocument/2006/relationships/notesMaster" Target="/ppt/notesMasters/notesMaster1.xml" Id="Rc7d81c071ab84153" /><Relationship Type="http://schemas.openxmlformats.org/officeDocument/2006/relationships/presProps" Target="/ppt/presProps.xml" Id="R352fa8a0537f47c4" /><Relationship Type="http://schemas.openxmlformats.org/officeDocument/2006/relationships/viewProps" Target="/ppt/viewProps.xml" Id="Redb743468d494426" /><Relationship Type="http://schemas.openxmlformats.org/officeDocument/2006/relationships/tableStyles" Target="/ppt/tableStyles.xml" Id="R276b9175372e4786" /><Relationship Type="http://schemas.openxmlformats.org/officeDocument/2006/relationships/slide" Target="/ppt/slides/slide1.xml" Id="Rd7f567586e4941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03d86d998c44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ae7e021d3b43ca" /><Relationship Type="http://schemas.openxmlformats.org/officeDocument/2006/relationships/notesMaster" Target="/ppt/notesMasters/notesMaster1.xml" Id="R721213d60c9648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BDHS_Manuscript_Weighting_Revised.pdf, revised 15 October 2026, and BDHS2022_Weighting_Resolution.pdf. Main model excludes work. All selected AORs and intervals from the expanded model. Survey prevalence denominator differs from regression domain. Template: supplied UNLV 48 × 36 inch poster. Research poster guidance: https://guides.library.unlv.edu/researchposters. No raw participant data included.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8df2d64204f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3d35b8aed47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54a2983b448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eb30784a24a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131b31b4046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9a5931abb468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e05845c414eb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9afc46c684b9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d5d23595c49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4f3b769934d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de632c1904122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12D004B1-C63D-49E9-9862-BBC60BE15F3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496200" y="4765280"/>
            <a:ext cx="40898700" cy="1313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1pPr>
            <a:lvl2pPr algn="ctr"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2pPr>
            <a:lvl3pPr algn="ctr"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3pPr>
            <a:lvl4pPr algn="ctr"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4pPr>
            <a:lvl5pPr algn="ctr"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5pPr>
            <a:lvl6pPr algn="ctr"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6pPr>
            <a:lvl7pPr algn="ctr"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7pPr>
            <a:lvl8pPr algn="ctr"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8pPr>
            <a:lvl9pPr algn="ctr"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96123D7-97CC-430B-A4EE-71EC5F5C23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96160" y="18138400"/>
            <a:ext cx="40898700" cy="50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0C627DA1-A420-4920-8546-A88FE83A50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0667798" y="29844588"/>
            <a:ext cx="2633700" cy="25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>
              <a:buNone/>
              <a:defRPr sz="5244"/>
            </a:lvl1pPr>
            <a:lvl2pPr>
              <a:buNone/>
              <a:defRPr sz="5244"/>
            </a:lvl2pPr>
            <a:lvl3pPr>
              <a:buNone/>
              <a:defRPr sz="5244"/>
            </a:lvl3pPr>
            <a:lvl4pPr>
              <a:buNone/>
              <a:defRPr sz="5244"/>
            </a:lvl4pPr>
            <a:lvl5pPr>
              <a:buNone/>
              <a:defRPr sz="5244"/>
            </a:lvl5pPr>
            <a:lvl6pPr>
              <a:buNone/>
              <a:defRPr sz="5244"/>
            </a:lvl6pPr>
            <a:lvl7pPr>
              <a:buNone/>
              <a:defRPr sz="5244"/>
            </a:lvl7pPr>
            <a:lvl8pPr>
              <a:buNone/>
              <a:defRPr sz="5244"/>
            </a:lvl8pPr>
            <a:lvl9pPr>
              <a:buNone/>
              <a:defRPr sz="5244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85AF9BED-8D8E-46AA-B0DC-634F35F2C2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96160" y="13765440"/>
            <a:ext cx="40898700" cy="53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1pPr>
            <a:lvl2pPr algn="ctr"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2pPr>
            <a:lvl3pPr algn="ctr"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3pPr>
            <a:lvl4pPr algn="ctr"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4pPr>
            <a:lvl5pPr algn="ctr"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5pPr>
            <a:lvl6pPr algn="ctr"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6pPr>
            <a:lvl7pPr algn="ctr"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7pPr>
            <a:lvl8pPr algn="ctr"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8pPr>
            <a:lvl9pPr algn="ctr"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F4318C8C-005A-4EAC-84B0-BA725E4342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0667798" y="29844588"/>
            <a:ext cx="2633700" cy="25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>
              <a:buNone/>
              <a:defRPr sz="5244"/>
            </a:lvl1pPr>
            <a:lvl2pPr>
              <a:buNone/>
              <a:defRPr sz="5244"/>
            </a:lvl2pPr>
            <a:lvl3pPr>
              <a:buNone/>
              <a:defRPr sz="5244"/>
            </a:lvl3pPr>
            <a:lvl4pPr>
              <a:buNone/>
              <a:defRPr sz="5244"/>
            </a:lvl4pPr>
            <a:lvl5pPr>
              <a:buNone/>
              <a:defRPr sz="5244"/>
            </a:lvl5pPr>
            <a:lvl6pPr>
              <a:buNone/>
              <a:defRPr sz="5244"/>
            </a:lvl6pPr>
            <a:lvl7pPr>
              <a:buNone/>
              <a:defRPr sz="5244"/>
            </a:lvl7pPr>
            <a:lvl8pPr>
              <a:buNone/>
              <a:defRPr sz="5244"/>
            </a:lvl8pPr>
            <a:lvl9pPr>
              <a:buNone/>
              <a:defRPr sz="5244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4AF86CA9-5D7F-46E5-9200-FB7EC6A91A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96160" y="2848160"/>
            <a:ext cx="40898700" cy="36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1pPr>
            <a:lvl2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2pPr>
            <a:lvl3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3pPr>
            <a:lvl4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4pPr>
            <a:lvl5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5pPr>
            <a:lvl6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6pPr>
            <a:lvl7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7pPr>
            <a:lvl8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8pPr>
            <a:lvl9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C845A4A1-A953-4CE9-8AB5-9F4FFEEB00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96160" y="7375840"/>
            <a:ext cx="40898700" cy="218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t">
            <a:normAutofit/>
          </a:bodyPr>
          <a:lstStyle xmlns:a="http://schemas.openxmlformats.org/drawingml/2006/main">
            <a:lvl1pPr marL="457200" indent="-828040">
              <a:spcBef>
                <a:spcPts val="0"/>
              </a:spcBef>
              <a:spcAft>
                <a:spcPts val="0"/>
              </a:spcAft>
              <a:buSzPts val="9440"/>
              <a:buChar char="●"/>
              <a:defRPr sz="9440"/>
            </a:lvl1pPr>
            <a:lvl2pPr marL="914400" indent="-694831"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2pPr>
            <a:lvl3pPr marL="1371600" indent="-694831"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3pPr>
            <a:lvl4pPr marL="1828800" indent="-694831"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4pPr>
            <a:lvl5pPr marL="2286000" indent="-694831"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5pPr>
            <a:lvl6pPr marL="2743200" indent="-694831"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6pPr>
            <a:lvl7pPr marL="3200400" indent="-694831"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7pPr>
            <a:lvl8pPr marL="3657600" indent="-694831"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8pPr>
            <a:lvl9pPr marL="4114800" indent="-694831"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FD8EFE52-C86A-481C-AFCF-7CCF42D1F5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0667798" y="29844588"/>
            <a:ext cx="2633700" cy="25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>
              <a:buNone/>
              <a:defRPr sz="5244"/>
            </a:lvl1pPr>
            <a:lvl2pPr>
              <a:buNone/>
              <a:defRPr sz="5244"/>
            </a:lvl2pPr>
            <a:lvl3pPr>
              <a:buNone/>
              <a:defRPr sz="5244"/>
            </a:lvl3pPr>
            <a:lvl4pPr>
              <a:buNone/>
              <a:defRPr sz="5244"/>
            </a:lvl4pPr>
            <a:lvl5pPr>
              <a:buNone/>
              <a:defRPr sz="5244"/>
            </a:lvl5pPr>
            <a:lvl6pPr>
              <a:buNone/>
              <a:defRPr sz="5244"/>
            </a:lvl6pPr>
            <a:lvl7pPr>
              <a:buNone/>
              <a:defRPr sz="5244"/>
            </a:lvl7pPr>
            <a:lvl8pPr>
              <a:buNone/>
              <a:defRPr sz="5244"/>
            </a:lvl8pPr>
            <a:lvl9pPr>
              <a:buNone/>
              <a:defRPr sz="5244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F049E0-9CA3-4EA1-97D7-9C5C49331D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96160" y="2848160"/>
            <a:ext cx="40898700" cy="36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1pPr>
            <a:lvl2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2pPr>
            <a:lvl3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3pPr>
            <a:lvl4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4pPr>
            <a:lvl5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5pPr>
            <a:lvl6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6pPr>
            <a:lvl7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7pPr>
            <a:lvl8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8pPr>
            <a:lvl9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F20E6677-2847-442A-89FD-F7C663E422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96160" y="7375840"/>
            <a:ext cx="19199700" cy="218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t">
            <a:normAutofit/>
          </a:bodyPr>
          <a:lstStyle xmlns:a="http://schemas.openxmlformats.org/drawingml/2006/main">
            <a:lvl1pPr marL="457200" indent="-694831"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1pPr>
            <a:lvl2pPr marL="914400" indent="-628226"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2pPr>
            <a:lvl3pPr marL="1371600" indent="-628226"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3pPr>
            <a:lvl4pPr marL="1828800" indent="-628226"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4pPr>
            <a:lvl5pPr marL="2286000" indent="-628226"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5pPr>
            <a:lvl6pPr marL="2743200" indent="-628226"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6pPr>
            <a:lvl7pPr marL="3200400" indent="-628226"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7pPr>
            <a:lvl8pPr marL="3657600" indent="-628226"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8pPr>
            <a:lvl9pPr marL="4114800" indent="-628226"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C9913409-A3AD-4E42-A9FC-A7AE8AF3FD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195520" y="7375840"/>
            <a:ext cx="19199700" cy="218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t">
            <a:normAutofit/>
          </a:bodyPr>
          <a:lstStyle xmlns:a="http://schemas.openxmlformats.org/drawingml/2006/main">
            <a:lvl1pPr marL="457200" indent="-694831"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1pPr>
            <a:lvl2pPr marL="914400" indent="-628226"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2pPr>
            <a:lvl3pPr marL="1371600" indent="-628226"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3pPr>
            <a:lvl4pPr marL="1828800" indent="-628226"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4pPr>
            <a:lvl5pPr marL="2286000" indent="-628226"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5pPr>
            <a:lvl6pPr marL="2743200" indent="-628226"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6pPr>
            <a:lvl7pPr marL="3200400" indent="-628226"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7pPr>
            <a:lvl8pPr marL="3657600" indent="-628226"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8pPr>
            <a:lvl9pPr marL="4114800" indent="-628226"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FA9E8622-826A-4B3A-8B48-32AC42CE71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0667798" y="29844588"/>
            <a:ext cx="2633700" cy="25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>
              <a:buNone/>
              <a:defRPr sz="5244"/>
            </a:lvl1pPr>
            <a:lvl2pPr>
              <a:buNone/>
              <a:defRPr sz="5244"/>
            </a:lvl2pPr>
            <a:lvl3pPr>
              <a:buNone/>
              <a:defRPr sz="5244"/>
            </a:lvl3pPr>
            <a:lvl4pPr>
              <a:buNone/>
              <a:defRPr sz="5244"/>
            </a:lvl4pPr>
            <a:lvl5pPr>
              <a:buNone/>
              <a:defRPr sz="5244"/>
            </a:lvl5pPr>
            <a:lvl6pPr>
              <a:buNone/>
              <a:defRPr sz="5244"/>
            </a:lvl6pPr>
            <a:lvl7pPr>
              <a:buNone/>
              <a:defRPr sz="5244"/>
            </a:lvl7pPr>
            <a:lvl8pPr>
              <a:buNone/>
              <a:defRPr sz="5244"/>
            </a:lvl8pPr>
            <a:lvl9pPr>
              <a:buNone/>
              <a:defRPr sz="5244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80CF8BD4-45AA-4BF6-AAF6-C8794D995D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96160" y="2848160"/>
            <a:ext cx="40898700" cy="36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1pPr>
            <a:lvl2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2pPr>
            <a:lvl3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3pPr>
            <a:lvl4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4pPr>
            <a:lvl5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5pPr>
            <a:lvl6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6pPr>
            <a:lvl7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7pPr>
            <a:lvl8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8pPr>
            <a:lvl9pPr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4A47A466-FC28-4283-B7FC-078B124A19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0667798" y="29844588"/>
            <a:ext cx="2633700" cy="25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>
              <a:buNone/>
              <a:defRPr sz="5244"/>
            </a:lvl1pPr>
            <a:lvl2pPr>
              <a:buNone/>
              <a:defRPr sz="5244"/>
            </a:lvl2pPr>
            <a:lvl3pPr>
              <a:buNone/>
              <a:defRPr sz="5244"/>
            </a:lvl3pPr>
            <a:lvl4pPr>
              <a:buNone/>
              <a:defRPr sz="5244"/>
            </a:lvl4pPr>
            <a:lvl5pPr>
              <a:buNone/>
              <a:defRPr sz="5244"/>
            </a:lvl5pPr>
            <a:lvl6pPr>
              <a:buNone/>
              <a:defRPr sz="5244"/>
            </a:lvl6pPr>
            <a:lvl7pPr>
              <a:buNone/>
              <a:defRPr sz="5244"/>
            </a:lvl7pPr>
            <a:lvl8pPr>
              <a:buNone/>
              <a:defRPr sz="5244"/>
            </a:lvl8pPr>
            <a:lvl9pPr>
              <a:buNone/>
              <a:defRPr sz="5244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451B297A-8E2D-4AFA-83D6-118CAF65AC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96160" y="3555840"/>
            <a:ext cx="13478400" cy="483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1pPr>
            <a:lvl2pPr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2pPr>
            <a:lvl3pPr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3pPr>
            <a:lvl4pPr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4pPr>
            <a:lvl5pPr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5pPr>
            <a:lvl6pPr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6pPr>
            <a:lvl7pPr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7pPr>
            <a:lvl8pPr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8pPr>
            <a:lvl9pPr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852BF941-EAAD-43B2-B701-BD6FFC998D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96160" y="8893440"/>
            <a:ext cx="13478400" cy="203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t">
            <a:normAutofit/>
          </a:bodyPr>
          <a:lstStyle xmlns:a="http://schemas.openxmlformats.org/drawingml/2006/main">
            <a:lvl1pPr marL="457200" indent="-628226"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1pPr>
            <a:lvl2pPr marL="914400" indent="-628226"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2pPr>
            <a:lvl3pPr marL="1371600" indent="-628226"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3pPr>
            <a:lvl4pPr marL="1828800" indent="-628226"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4pPr>
            <a:lvl5pPr marL="2286000" indent="-628226"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5pPr>
            <a:lvl6pPr marL="2743200" indent="-628226"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6pPr>
            <a:lvl7pPr marL="3200400" indent="-628226"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7pPr>
            <a:lvl8pPr marL="3657600" indent="-628226"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8pPr>
            <a:lvl9pPr marL="4114800" indent="-628226"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BE823F6E-0C93-4DA3-9419-8531AE3DA2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0667798" y="29844588"/>
            <a:ext cx="2633700" cy="25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>
              <a:buNone/>
              <a:defRPr sz="5244"/>
            </a:lvl1pPr>
            <a:lvl2pPr>
              <a:buNone/>
              <a:defRPr sz="5244"/>
            </a:lvl2pPr>
            <a:lvl3pPr>
              <a:buNone/>
              <a:defRPr sz="5244"/>
            </a:lvl3pPr>
            <a:lvl4pPr>
              <a:buNone/>
              <a:defRPr sz="5244"/>
            </a:lvl4pPr>
            <a:lvl5pPr>
              <a:buNone/>
              <a:defRPr sz="5244"/>
            </a:lvl5pPr>
            <a:lvl6pPr>
              <a:buNone/>
              <a:defRPr sz="5244"/>
            </a:lvl6pPr>
            <a:lvl7pPr>
              <a:buNone/>
              <a:defRPr sz="5244"/>
            </a:lvl7pPr>
            <a:lvl8pPr>
              <a:buNone/>
              <a:defRPr sz="5244"/>
            </a:lvl8pPr>
            <a:lvl9pPr>
              <a:buNone/>
              <a:defRPr sz="5244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2D6B4A5C-AEFF-482D-88CD-A3A8F90A3A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53200" y="2880960"/>
            <a:ext cx="30565500" cy="2618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1pPr>
            <a:lvl2pPr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2pPr>
            <a:lvl3pPr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3pPr>
            <a:lvl4pPr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4pPr>
            <a:lvl5pPr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5pPr>
            <a:lvl6pPr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6pPr>
            <a:lvl7pPr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7pPr>
            <a:lvl8pPr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8pPr>
            <a:lvl9pPr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9DCE485E-6451-4530-8281-3EA8ED682E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0667798" y="29844588"/>
            <a:ext cx="2633700" cy="25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>
              <a:buNone/>
              <a:defRPr sz="5244"/>
            </a:lvl1pPr>
            <a:lvl2pPr>
              <a:buNone/>
              <a:defRPr sz="5244"/>
            </a:lvl2pPr>
            <a:lvl3pPr>
              <a:buNone/>
              <a:defRPr sz="5244"/>
            </a:lvl3pPr>
            <a:lvl4pPr>
              <a:buNone/>
              <a:defRPr sz="5244"/>
            </a:lvl4pPr>
            <a:lvl5pPr>
              <a:buNone/>
              <a:defRPr sz="5244"/>
            </a:lvl5pPr>
            <a:lvl6pPr>
              <a:buNone/>
              <a:defRPr sz="5244"/>
            </a:lvl6pPr>
            <a:lvl7pPr>
              <a:buNone/>
              <a:defRPr sz="5244"/>
            </a:lvl7pPr>
            <a:lvl8pPr>
              <a:buNone/>
              <a:defRPr sz="5244"/>
            </a:lvl8pPr>
            <a:lvl9pPr>
              <a:buNone/>
              <a:defRPr sz="5244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7F8E411F-0D3E-44BA-988F-D5F4A577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0" y="-800"/>
            <a:ext cx="2194560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79475" tIns="479475" rIns="479475" bIns="4794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87A1C50D-4066-4733-802A-8A45A19361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74400" y="7892320"/>
            <a:ext cx="19416900" cy="948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1pPr>
            <a:lvl2pPr algn="ctr"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2pPr>
            <a:lvl3pPr algn="ctr"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3pPr>
            <a:lvl4pPr algn="ctr"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4pPr>
            <a:lvl5pPr algn="ctr"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5pPr>
            <a:lvl6pPr algn="ctr"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6pPr>
            <a:lvl7pPr algn="ctr"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7pPr>
            <a:lvl8pPr algn="ctr"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8pPr>
            <a:lvl9pPr algn="ctr"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78CE78EF-24CD-4F54-8FB5-4E1FB9BB1B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74400" y="17939680"/>
            <a:ext cx="19416900" cy="790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61C8BD7D-39ED-4968-82BD-49238467F4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709600" y="4634080"/>
            <a:ext cx="18417600" cy="2364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 marL="457200" indent="-828040">
              <a:spcBef>
                <a:spcPts val="0"/>
              </a:spcBef>
              <a:spcAft>
                <a:spcPts val="0"/>
              </a:spcAft>
              <a:buSzPts val="9440"/>
              <a:buChar char="●"/>
              <a:defRPr sz="9440"/>
            </a:lvl1pPr>
            <a:lvl2pPr marL="914400" indent="-694831"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2pPr>
            <a:lvl3pPr marL="1371600" indent="-694831"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3pPr>
            <a:lvl4pPr marL="1828800" indent="-694831"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4pPr>
            <a:lvl5pPr marL="2286000" indent="-694831"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5pPr>
            <a:lvl6pPr marL="2743200" indent="-694831"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6pPr>
            <a:lvl7pPr marL="3200400" indent="-694831"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7pPr>
            <a:lvl8pPr marL="3657600" indent="-694831"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8pPr>
            <a:lvl9pPr marL="4114800" indent="-694831"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FB621EC9-B933-448C-93D7-62FF89D315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0667798" y="29844588"/>
            <a:ext cx="2633700" cy="25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>
              <a:buNone/>
              <a:defRPr sz="5244"/>
            </a:lvl1pPr>
            <a:lvl2pPr>
              <a:buNone/>
              <a:defRPr sz="5244"/>
            </a:lvl2pPr>
            <a:lvl3pPr>
              <a:buNone/>
              <a:defRPr sz="5244"/>
            </a:lvl3pPr>
            <a:lvl4pPr>
              <a:buNone/>
              <a:defRPr sz="5244"/>
            </a:lvl4pPr>
            <a:lvl5pPr>
              <a:buNone/>
              <a:defRPr sz="5244"/>
            </a:lvl5pPr>
            <a:lvl6pPr>
              <a:buNone/>
              <a:defRPr sz="5244"/>
            </a:lvl6pPr>
            <a:lvl7pPr>
              <a:buNone/>
              <a:defRPr sz="5244"/>
            </a:lvl7pPr>
            <a:lvl8pPr>
              <a:buNone/>
              <a:defRPr sz="5244"/>
            </a:lvl8pPr>
            <a:lvl9pPr>
              <a:buNone/>
              <a:defRPr sz="5244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B46CA744-7128-4B42-8790-494D885BB7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96160" y="27075680"/>
            <a:ext cx="28794300" cy="38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40"/>
              <a:buNone/>
              <a:defRPr sz="9440"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8C2CB8D9-49E7-4AFB-8AE1-01A19A0106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0667798" y="29844588"/>
            <a:ext cx="2633700" cy="25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>
              <a:buNone/>
              <a:defRPr sz="5244"/>
            </a:lvl1pPr>
            <a:lvl2pPr>
              <a:buNone/>
              <a:defRPr sz="5244"/>
            </a:lvl2pPr>
            <a:lvl3pPr>
              <a:buNone/>
              <a:defRPr sz="5244"/>
            </a:lvl3pPr>
            <a:lvl4pPr>
              <a:buNone/>
              <a:defRPr sz="5244"/>
            </a:lvl4pPr>
            <a:lvl5pPr>
              <a:buNone/>
              <a:defRPr sz="5244"/>
            </a:lvl5pPr>
            <a:lvl6pPr>
              <a:buNone/>
              <a:defRPr sz="5244"/>
            </a:lvl6pPr>
            <a:lvl7pPr>
              <a:buNone/>
              <a:defRPr sz="5244"/>
            </a:lvl7pPr>
            <a:lvl8pPr>
              <a:buNone/>
              <a:defRPr sz="5244"/>
            </a:lvl8pPr>
            <a:lvl9pPr>
              <a:buNone/>
              <a:defRPr sz="5244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4B7BEBDA-0F9B-4A35-A9F5-218B278E4B2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496160" y="7079200"/>
            <a:ext cx="40898700" cy="1256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1pPr>
            <a:lvl2pPr algn="ctr"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2pPr>
            <a:lvl3pPr algn="ctr"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3pPr>
            <a:lvl4pPr algn="ctr"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4pPr>
            <a:lvl5pPr algn="ctr"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5pPr>
            <a:lvl6pPr algn="ctr"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6pPr>
            <a:lvl7pPr algn="ctr"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7pPr>
            <a:lvl8pPr algn="ctr"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8pPr>
            <a:lvl9pPr algn="ctr"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8E11F732-50C2-44EB-861C-FB0ED0798A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96160" y="20174240"/>
            <a:ext cx="40898700" cy="832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t">
            <a:normAutofit/>
          </a:bodyPr>
          <a:lstStyle xmlns:a="http://schemas.openxmlformats.org/drawingml/2006/main">
            <a:lvl1pPr marL="457200" indent="-828040" algn="ctr">
              <a:spcBef>
                <a:spcPts val="0"/>
              </a:spcBef>
              <a:spcAft>
                <a:spcPts val="0"/>
              </a:spcAft>
              <a:buSzPts val="9440"/>
              <a:buChar char="●"/>
              <a:defRPr sz="9440"/>
            </a:lvl1pPr>
            <a:lvl2pPr marL="914400" indent="-694831" algn="ctr"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2pPr>
            <a:lvl3pPr marL="1371600" indent="-694831" algn="ctr"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3pPr>
            <a:lvl4pPr marL="1828800" indent="-694831" algn="ctr"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4pPr>
            <a:lvl5pPr marL="2286000" indent="-694831" algn="ctr"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5pPr>
            <a:lvl6pPr marL="2743200" indent="-694831" algn="ctr"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6pPr>
            <a:lvl7pPr marL="3200400" indent="-694831" algn="ctr"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7pPr>
            <a:lvl8pPr marL="3657600" indent="-694831" algn="ctr"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8pPr>
            <a:lvl9pPr marL="4114800" indent="-694831" algn="ctr"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F5F34614-78F3-4717-858A-7650E874CF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0667798" y="29844588"/>
            <a:ext cx="2633700" cy="25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>
              <a:buNone/>
              <a:defRPr sz="5244"/>
            </a:lvl1pPr>
            <a:lvl2pPr>
              <a:buNone/>
              <a:defRPr sz="5244"/>
            </a:lvl2pPr>
            <a:lvl3pPr>
              <a:buNone/>
              <a:defRPr sz="5244"/>
            </a:lvl3pPr>
            <a:lvl4pPr>
              <a:buNone/>
              <a:defRPr sz="5244"/>
            </a:lvl4pPr>
            <a:lvl5pPr>
              <a:buNone/>
              <a:defRPr sz="5244"/>
            </a:lvl5pPr>
            <a:lvl6pPr>
              <a:buNone/>
              <a:defRPr sz="5244"/>
            </a:lvl6pPr>
            <a:lvl7pPr>
              <a:buNone/>
              <a:defRPr sz="5244"/>
            </a:lvl7pPr>
            <a:lvl8pPr>
              <a:buNone/>
              <a:defRPr sz="5244"/>
            </a:lvl8pPr>
            <a:lvl9pPr>
              <a:buNone/>
              <a:defRPr sz="5244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D7556718-CDF6-480A-8343-831926567D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0667798" y="29844588"/>
            <a:ext cx="2633700" cy="25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>
              <a:buNone/>
              <a:defRPr sz="5244"/>
            </a:lvl1pPr>
            <a:lvl2pPr>
              <a:buNone/>
              <a:defRPr sz="5244"/>
            </a:lvl2pPr>
            <a:lvl3pPr>
              <a:buNone/>
              <a:defRPr sz="5244"/>
            </a:lvl3pPr>
            <a:lvl4pPr>
              <a:buNone/>
              <a:defRPr sz="5244"/>
            </a:lvl4pPr>
            <a:lvl5pPr>
              <a:buNone/>
              <a:defRPr sz="5244"/>
            </a:lvl5pPr>
            <a:lvl6pPr>
              <a:buNone/>
              <a:defRPr sz="5244"/>
            </a:lvl6pPr>
            <a:lvl7pPr>
              <a:buNone/>
              <a:defRPr sz="5244"/>
            </a:lvl7pPr>
            <a:lvl8pPr>
              <a:buNone/>
              <a:defRPr sz="5244"/>
            </a:lvl8pPr>
            <a:lvl9pPr>
              <a:buNone/>
              <a:defRPr sz="5244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f339bcb6394d67" /><Relationship Type="http://schemas.openxmlformats.org/officeDocument/2006/relationships/slideLayout" Target="/ppt/slideLayouts/slideLayout1.xml" Id="R5594ac84a1bf42ec" /><Relationship Type="http://schemas.openxmlformats.org/officeDocument/2006/relationships/slideLayout" Target="/ppt/slideLayouts/slideLayout2.xml" Id="R0488ff510bec46c4" /><Relationship Type="http://schemas.openxmlformats.org/officeDocument/2006/relationships/slideLayout" Target="/ppt/slideLayouts/slideLayout3.xml" Id="Red1cdccc52cc4a62" /><Relationship Type="http://schemas.openxmlformats.org/officeDocument/2006/relationships/slideLayout" Target="/ppt/slideLayouts/slideLayout4.xml" Id="R2fe8cd637a154ef8" /><Relationship Type="http://schemas.openxmlformats.org/officeDocument/2006/relationships/slideLayout" Target="/ppt/slideLayouts/slideLayout5.xml" Id="R33dba1ec5b13424d" /><Relationship Type="http://schemas.openxmlformats.org/officeDocument/2006/relationships/slideLayout" Target="/ppt/slideLayouts/slideLayout6.xml" Id="R761eceef5ed647f9" /><Relationship Type="http://schemas.openxmlformats.org/officeDocument/2006/relationships/slideLayout" Target="/ppt/slideLayouts/slideLayout7.xml" Id="Rad15e08ef29f4ca9" /><Relationship Type="http://schemas.openxmlformats.org/officeDocument/2006/relationships/slideLayout" Target="/ppt/slideLayouts/slideLayout8.xml" Id="R33747cebd8634eb7" /><Relationship Type="http://schemas.openxmlformats.org/officeDocument/2006/relationships/slideLayout" Target="/ppt/slideLayouts/slideLayout9.xml" Id="R4066f8c91aff41e6" /><Relationship Type="http://schemas.openxmlformats.org/officeDocument/2006/relationships/slideLayout" Target="/ppt/slideLayouts/slideLayout10.xml" Id="R8afb8fa3b3f34ef2" /><Relationship Type="http://schemas.openxmlformats.org/officeDocument/2006/relationships/slideLayout" Target="/ppt/slideLayouts/slideLayout11.xml" Id="Rc12de422a4464b18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B86298A7-854F-4B39-BA4D-B44F56F31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96160" y="2848160"/>
            <a:ext cx="40898700" cy="36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79475" tIns="479475" rIns="479475" bIns="47947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None/>
              <a:defRPr sz="14684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None/>
              <a:defRPr sz="14684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None/>
              <a:defRPr sz="14684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None/>
              <a:defRPr sz="14684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None/>
              <a:defRPr sz="14684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None/>
              <a:defRPr sz="14684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None/>
              <a:defRPr sz="14684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None/>
              <a:defRPr sz="14684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None/>
              <a:defRPr sz="14684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FADCC913-D771-4BCA-A1A2-8C0CA06E5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96160" y="7375840"/>
            <a:ext cx="40898700" cy="218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79475" tIns="479475" rIns="479475" bIns="479475" anchor="t">
            <a:normAutofit/>
          </a:bodyPr>
          <a:lstStyle xmlns:a="http://schemas.openxmlformats.org/drawingml/2006/main">
            <a:lvl1pPr marL="457200" indent="-82804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440"/>
              <a:buChar char="●"/>
              <a:defRPr sz="9440">
                <a:solidFill>
                  <a:schemeClr val="dk2"/>
                </a:solidFill>
              </a:defRPr>
            </a:lvl1pPr>
            <a:lvl2pPr marL="914400" indent="-69483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Char char="○"/>
              <a:defRPr sz="7342">
                <a:solidFill>
                  <a:schemeClr val="dk2"/>
                </a:solidFill>
              </a:defRPr>
            </a:lvl2pPr>
            <a:lvl3pPr marL="1371600" indent="-69483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Char char="■"/>
              <a:defRPr sz="7342">
                <a:solidFill>
                  <a:schemeClr val="dk2"/>
                </a:solidFill>
              </a:defRPr>
            </a:lvl3pPr>
            <a:lvl4pPr marL="1828800" indent="-69483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Char char="●"/>
              <a:defRPr sz="7342">
                <a:solidFill>
                  <a:schemeClr val="dk2"/>
                </a:solidFill>
              </a:defRPr>
            </a:lvl4pPr>
            <a:lvl5pPr marL="2286000" indent="-69483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Char char="○"/>
              <a:defRPr sz="7342">
                <a:solidFill>
                  <a:schemeClr val="dk2"/>
                </a:solidFill>
              </a:defRPr>
            </a:lvl5pPr>
            <a:lvl6pPr marL="2743200" indent="-69483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Char char="■"/>
              <a:defRPr sz="7342">
                <a:solidFill>
                  <a:schemeClr val="dk2"/>
                </a:solidFill>
              </a:defRPr>
            </a:lvl6pPr>
            <a:lvl7pPr marL="3200400" indent="-69483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Char char="●"/>
              <a:defRPr sz="7342">
                <a:solidFill>
                  <a:schemeClr val="dk2"/>
                </a:solidFill>
              </a:defRPr>
            </a:lvl7pPr>
            <a:lvl8pPr marL="3657600" indent="-69483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Char char="○"/>
              <a:defRPr sz="7342">
                <a:solidFill>
                  <a:schemeClr val="dk2"/>
                </a:solidFill>
              </a:defRPr>
            </a:lvl8pPr>
            <a:lvl9pPr marL="4114800" indent="-69483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Char char="■"/>
              <a:defRPr sz="7342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D2819882-2019-44F4-9150-643368436B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0667798" y="29844588"/>
            <a:ext cx="2633700" cy="25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79475" tIns="479475" rIns="479475" bIns="479475" anchor="ctr">
            <a:normAutofit/>
          </a:bodyPr>
          <a:lstStyle xmlns:a="http://schemas.openxmlformats.org/drawingml/2006/main">
            <a:lvl1pPr algn="r">
              <a:buNone/>
              <a:defRPr sz="5244">
                <a:solidFill>
                  <a:schemeClr val="dk2"/>
                </a:solidFill>
              </a:defRPr>
            </a:lvl1pPr>
            <a:lvl2pPr algn="r">
              <a:buNone/>
              <a:defRPr sz="5244">
                <a:solidFill>
                  <a:schemeClr val="dk2"/>
                </a:solidFill>
              </a:defRPr>
            </a:lvl2pPr>
            <a:lvl3pPr algn="r">
              <a:buNone/>
              <a:defRPr sz="5244">
                <a:solidFill>
                  <a:schemeClr val="dk2"/>
                </a:solidFill>
              </a:defRPr>
            </a:lvl3pPr>
            <a:lvl4pPr algn="r">
              <a:buNone/>
              <a:defRPr sz="5244">
                <a:solidFill>
                  <a:schemeClr val="dk2"/>
                </a:solidFill>
              </a:defRPr>
            </a:lvl4pPr>
            <a:lvl5pPr algn="r">
              <a:buNone/>
              <a:defRPr sz="5244">
                <a:solidFill>
                  <a:schemeClr val="dk2"/>
                </a:solidFill>
              </a:defRPr>
            </a:lvl5pPr>
            <a:lvl6pPr algn="r">
              <a:buNone/>
              <a:defRPr sz="5244">
                <a:solidFill>
                  <a:schemeClr val="dk2"/>
                </a:solidFill>
              </a:defRPr>
            </a:lvl6pPr>
            <a:lvl7pPr algn="r">
              <a:buNone/>
              <a:defRPr sz="5244">
                <a:solidFill>
                  <a:schemeClr val="dk2"/>
                </a:solidFill>
              </a:defRPr>
            </a:lvl7pPr>
            <a:lvl8pPr algn="r">
              <a:buNone/>
              <a:defRPr sz="5244">
                <a:solidFill>
                  <a:schemeClr val="dk2"/>
                </a:solidFill>
              </a:defRPr>
            </a:lvl8pPr>
            <a:lvl9pPr algn="r">
              <a:buNone/>
              <a:defRPr sz="5244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94ac84a1bf42ec"/>
    <p:sldLayoutId xmlns:r="http://schemas.openxmlformats.org/officeDocument/2006/relationships" id="2147483650" r:id="R0488ff510bec46c4"/>
    <p:sldLayoutId xmlns:r="http://schemas.openxmlformats.org/officeDocument/2006/relationships" id="2147483651" r:id="Red1cdccc52cc4a62"/>
    <p:sldLayoutId xmlns:r="http://schemas.openxmlformats.org/officeDocument/2006/relationships" id="2147483652" r:id="R2fe8cd637a154ef8"/>
    <p:sldLayoutId xmlns:r="http://schemas.openxmlformats.org/officeDocument/2006/relationships" id="2147483653" r:id="R33dba1ec5b13424d"/>
    <p:sldLayoutId xmlns:r="http://schemas.openxmlformats.org/officeDocument/2006/relationships" id="2147483654" r:id="R761eceef5ed647f9"/>
    <p:sldLayoutId xmlns:r="http://schemas.openxmlformats.org/officeDocument/2006/relationships" id="2147483655" r:id="Rad15e08ef29f4ca9"/>
    <p:sldLayoutId xmlns:r="http://schemas.openxmlformats.org/officeDocument/2006/relationships" id="2147483656" r:id="R33747cebd8634eb7"/>
    <p:sldLayoutId xmlns:r="http://schemas.openxmlformats.org/officeDocument/2006/relationships" id="2147483657" r:id="R4066f8c91aff41e6"/>
    <p:sldLayoutId xmlns:r="http://schemas.openxmlformats.org/officeDocument/2006/relationships" id="2147483658" r:id="R8afb8fa3b3f34ef2"/>
    <p:sldLayoutId xmlns:r="http://schemas.openxmlformats.org/officeDocument/2006/relationships" id="2147483659" r:id="Rc12de422a4464b1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afcf5f8db4c57" /><Relationship Type="http://schemas.openxmlformats.org/officeDocument/2006/relationships/image" Target="/ppt/media/image.png" Id="R45be2e6f8f914f58" /><Relationship Type="http://schemas.openxmlformats.org/officeDocument/2006/relationships/notesSlide" Target="/ppt/notesSlides/notesSlide1.xml" Id="Rabed7fdd02ce4e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7D4B2D0C-C37B-4EC0-BAFD-5C804879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952500"/>
            <a:ext cx="3333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222222"/>
                </a:solidFill>
              </a:defRPr>
            </a:defPPr>
            <a:lvl1pPr algn="l">
              <a:defRPr sz="8400" b="1">
                <a:solidFill>
                  <a:srgbClr val="222222"/>
                </a:solidFill>
              </a:defRPr>
            </a:lvl1pPr>
            <a:lvl2pPr algn="l">
              <a:defRPr sz="8400" b="1">
                <a:solidFill>
                  <a:srgbClr val="222222"/>
                </a:solidFill>
              </a:defRPr>
            </a:lvl2pPr>
            <a:lvl3pPr algn="l">
              <a:defRPr sz="8400" b="1">
                <a:solidFill>
                  <a:srgbClr val="222222"/>
                </a:solidFill>
              </a:defRPr>
            </a:lvl3pPr>
            <a:lvl4pPr algn="l">
              <a:defRPr sz="8400" b="1">
                <a:solidFill>
                  <a:srgbClr val="222222"/>
                </a:solidFill>
              </a:defRPr>
            </a:lvl4pPr>
            <a:lvl5pPr algn="l">
              <a:defRPr sz="8400" b="1">
                <a:solidFill>
                  <a:srgbClr val="222222"/>
                </a:solidFill>
              </a:defRPr>
            </a:lvl5pPr>
            <a:lvl6pPr algn="l">
              <a:defRPr sz="8400" b="1">
                <a:solidFill>
                  <a:srgbClr val="222222"/>
                </a:solidFill>
              </a:defRPr>
            </a:lvl6pPr>
            <a:lvl7pPr algn="l">
              <a:defRPr sz="8400" b="1">
                <a:solidFill>
                  <a:srgbClr val="222222"/>
                </a:solidFill>
              </a:defRPr>
            </a:lvl7pPr>
            <a:lvl8pPr algn="l">
              <a:defRPr sz="8400" b="1">
                <a:solidFill>
                  <a:srgbClr val="222222"/>
                </a:solidFill>
              </a:defRPr>
            </a:lvl8pPr>
            <a:lvl9pPr algn="l">
              <a:defRPr sz="8400" b="1">
                <a:solidFill>
                  <a:srgbClr val="222222"/>
                </a:solidFill>
              </a:defRPr>
            </a:lvl9pPr>
          </a:lstStyle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8400" b="1">
                <a:solidFill>
                  <a:srgbClr val="222222"/>
                </a:solidFill>
              </a:defRPr>
            </a:pPr>
            <a:r>
              <a:rPr sz="8400" b="1">
                <a:solidFill>
                  <a:srgbClr val="222222"/>
                </a:solidFill>
              </a:rPr>
              <a:t>Cohabitation timing and childbearing or current pregnancy</a:t>
            </a:r>
            <a:endParaRPr sz="121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8400" b="1">
                <a:solidFill>
                  <a:srgbClr val="222222"/>
                </a:solidFill>
              </a:defRPr>
            </a:pPr>
            <a:r>
              <a:rPr sz="8400" b="1">
                <a:solidFill>
                  <a:srgbClr val="222222"/>
                </a:solidFill>
              </a:rPr>
              <a:t>among married adolescents in Bangladesh</a:t>
            </a:r>
            <a:endParaRPr sz="5500">
              <a:solidFill>
                <a:schemeClr val="dk2"/>
              </a:solidFill>
            </a:endParaRPr>
          </a:p>
        </p:txBody>
      </p:sp>
      <p:pic>
        <p:nvPic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BCE4BEEE-CD11-44B2-BA73-695F37D8AB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e2e6f8f914f5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65225" y="2076600"/>
            <a:ext cx="7019925" cy="2057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68A12EBD-0B38-4392-84A1-56C495EC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048500"/>
            <a:ext cx="1188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5400" b="1">
                <a:solidFill>
                  <a:srgbClr val="4D4D4D"/>
                </a:solidFill>
              </a:defRPr>
            </a:defPPr>
            <a:lvl1pPr algn="ctr">
              <a:defRPr sz="5400" b="1">
                <a:solidFill>
                  <a:srgbClr val="4D4D4D"/>
                </a:solidFill>
              </a:defRPr>
            </a:lvl1pPr>
            <a:lvl2pPr algn="ctr">
              <a:defRPr sz="5400" b="1">
                <a:solidFill>
                  <a:srgbClr val="4D4D4D"/>
                </a:solidFill>
              </a:defRPr>
            </a:lvl2pPr>
            <a:lvl3pPr algn="ctr">
              <a:defRPr sz="5400" b="1">
                <a:solidFill>
                  <a:srgbClr val="4D4D4D"/>
                </a:solidFill>
              </a:defRPr>
            </a:lvl3pPr>
            <a:lvl4pPr algn="ctr">
              <a:defRPr sz="5400" b="1">
                <a:solidFill>
                  <a:srgbClr val="4D4D4D"/>
                </a:solidFill>
              </a:defRPr>
            </a:lvl4pPr>
            <a:lvl5pPr algn="ctr">
              <a:defRPr sz="5400" b="1">
                <a:solidFill>
                  <a:srgbClr val="4D4D4D"/>
                </a:solidFill>
              </a:defRPr>
            </a:lvl5pPr>
            <a:lvl6pPr algn="ctr">
              <a:defRPr sz="5400" b="1">
                <a:solidFill>
                  <a:srgbClr val="4D4D4D"/>
                </a:solidFill>
              </a:defRPr>
            </a:lvl6pPr>
            <a:lvl7pPr algn="ctr">
              <a:defRPr sz="5400" b="1">
                <a:solidFill>
                  <a:srgbClr val="4D4D4D"/>
                </a:solidFill>
              </a:defRPr>
            </a:lvl7pPr>
            <a:lvl8pPr algn="ctr">
              <a:defRPr sz="5400" b="1">
                <a:solidFill>
                  <a:srgbClr val="4D4D4D"/>
                </a:solidFill>
              </a:defRPr>
            </a:lvl8pPr>
            <a:lvl9pPr algn="ctr">
              <a:defRPr sz="5400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rgbClr val="4D4D4D"/>
                </a:solidFill>
              </a:defRPr>
            </a:pPr>
            <a:r>
              <a:rPr sz="5400" b="1">
                <a:solidFill>
                  <a:srgbClr val="4D4D4D"/>
                </a:solidFill>
              </a:rPr>
              <a:t>Introduction</a:t>
            </a:r>
            <a:endParaRPr sz="7200" b="1">
              <a:solidFill>
                <a:schemeClr val="dk2"/>
              </a:solidFill>
            </a:endParaRPr>
          </a:p>
        </p:txBody>
      </p:sp>
      <p:sp>
        <p:nvSpPr>
          <p:cNvPr id="60" name="Google Shape;60;p13">
            <a:extLst xmlns:a="http://schemas.openxmlformats.org/drawingml/2006/main">
              <a:ext uri="{FF2B5EF4-FFF2-40B4-BE49-F238E27FC236}">
                <a16:creationId xmlns:a16="http://schemas.microsoft.com/office/drawing/2014/main" id="{F36EFD93-6426-492F-BED9-B68EB767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8382000"/>
            <a:ext cx="118872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4D4D4D"/>
                </a:solidFill>
              </a:defRPr>
            </a:defPPr>
            <a:lvl1pPr algn="l">
              <a:defRPr sz="3600" b="0">
                <a:solidFill>
                  <a:srgbClr val="4D4D4D"/>
                </a:solidFill>
              </a:defRPr>
            </a:lvl1pPr>
            <a:lvl2pPr algn="l">
              <a:defRPr sz="3600" b="0">
                <a:solidFill>
                  <a:srgbClr val="4D4D4D"/>
                </a:solidFill>
              </a:defRPr>
            </a:lvl2pPr>
            <a:lvl3pPr algn="l">
              <a:defRPr sz="3600" b="0">
                <a:solidFill>
                  <a:srgbClr val="4D4D4D"/>
                </a:solidFill>
              </a:defRPr>
            </a:lvl3pPr>
            <a:lvl4pPr algn="l">
              <a:defRPr sz="3600" b="0">
                <a:solidFill>
                  <a:srgbClr val="4D4D4D"/>
                </a:solidFill>
              </a:defRPr>
            </a:lvl4pPr>
            <a:lvl5pPr algn="l">
              <a:defRPr sz="3600" b="0">
                <a:solidFill>
                  <a:srgbClr val="4D4D4D"/>
                </a:solidFill>
              </a:defRPr>
            </a:lvl5pPr>
            <a:lvl6pPr algn="l">
              <a:defRPr sz="3600" b="0">
                <a:solidFill>
                  <a:srgbClr val="4D4D4D"/>
                </a:solidFill>
              </a:defRPr>
            </a:lvl6pPr>
            <a:lvl7pPr algn="l">
              <a:defRPr sz="3600" b="0">
                <a:solidFill>
                  <a:srgbClr val="4D4D4D"/>
                </a:solidFill>
              </a:defRPr>
            </a:lvl7pPr>
            <a:lvl8pPr algn="l">
              <a:defRPr sz="3600" b="0">
                <a:solidFill>
                  <a:srgbClr val="4D4D4D"/>
                </a:solidFill>
              </a:defRPr>
            </a:lvl8pPr>
            <a:lvl9pPr algn="l">
              <a:defRPr sz="36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Adolescent childbearing is an important reproductive-health concern in Bangladesh. Timing of first cohabitation also determines how long childbearing could have occurred before interview. [1,2]</a:t>
            </a:r>
            <a:endParaRPr sz="3600">
              <a:solidFill>
                <a:schemeClr val="dk2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Objective: Describe live-birth experience or current pregnancy among ever-married adolescents, and examine conditional associations with cohabitation timing and partner characteristics.</a:t>
            </a:r>
            <a:endParaRPr sz="3600">
              <a:solidFill>
                <a:schemeClr val="dk2"/>
              </a:solidFill>
            </a:endParaRPr>
          </a:p>
        </p:txBody>
      </p:sp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BF77C89E-4684-47A6-9969-B536F6DB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0"/>
            <a:ext cx="1188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5400" b="1">
                <a:solidFill>
                  <a:srgbClr val="4D4D4D"/>
                </a:solidFill>
              </a:defRPr>
            </a:defPPr>
            <a:lvl1pPr algn="ctr">
              <a:defRPr sz="5400" b="1">
                <a:solidFill>
                  <a:srgbClr val="4D4D4D"/>
                </a:solidFill>
              </a:defRPr>
            </a:lvl1pPr>
            <a:lvl2pPr algn="ctr">
              <a:defRPr sz="5400" b="1">
                <a:solidFill>
                  <a:srgbClr val="4D4D4D"/>
                </a:solidFill>
              </a:defRPr>
            </a:lvl2pPr>
            <a:lvl3pPr algn="ctr">
              <a:defRPr sz="5400" b="1">
                <a:solidFill>
                  <a:srgbClr val="4D4D4D"/>
                </a:solidFill>
              </a:defRPr>
            </a:lvl3pPr>
            <a:lvl4pPr algn="ctr">
              <a:defRPr sz="5400" b="1">
                <a:solidFill>
                  <a:srgbClr val="4D4D4D"/>
                </a:solidFill>
              </a:defRPr>
            </a:lvl4pPr>
            <a:lvl5pPr algn="ctr">
              <a:defRPr sz="5400" b="1">
                <a:solidFill>
                  <a:srgbClr val="4D4D4D"/>
                </a:solidFill>
              </a:defRPr>
            </a:lvl5pPr>
            <a:lvl6pPr algn="ctr">
              <a:defRPr sz="5400" b="1">
                <a:solidFill>
                  <a:srgbClr val="4D4D4D"/>
                </a:solidFill>
              </a:defRPr>
            </a:lvl6pPr>
            <a:lvl7pPr algn="ctr">
              <a:defRPr sz="5400" b="1">
                <a:solidFill>
                  <a:srgbClr val="4D4D4D"/>
                </a:solidFill>
              </a:defRPr>
            </a:lvl7pPr>
            <a:lvl8pPr algn="ctr">
              <a:defRPr sz="5400" b="1">
                <a:solidFill>
                  <a:srgbClr val="4D4D4D"/>
                </a:solidFill>
              </a:defRPr>
            </a:lvl8pPr>
            <a:lvl9pPr algn="ctr">
              <a:defRPr sz="5400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rgbClr val="4D4D4D"/>
                </a:solidFill>
              </a:defRPr>
            </a:pPr>
            <a:r>
              <a:rPr sz="5400" b="1">
                <a:solidFill>
                  <a:srgbClr val="4D4D4D"/>
                </a:solidFill>
              </a:rPr>
              <a:t>Methods</a:t>
            </a:r>
            <a:endParaRPr sz="7200" b="1">
              <a:solidFill>
                <a:schemeClr val="dk2"/>
              </a:solidFill>
            </a:endParaRPr>
          </a:p>
        </p:txBody>
      </p:sp>
      <p:sp>
        <p:nvSp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5939FF95-E02C-4D94-AC33-4A0BFFC1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7048500"/>
            <a:ext cx="1188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5400" b="1">
                <a:solidFill>
                  <a:srgbClr val="4D4D4D"/>
                </a:solidFill>
              </a:defRPr>
            </a:defPPr>
            <a:lvl1pPr algn="ctr">
              <a:defRPr sz="5400" b="1">
                <a:solidFill>
                  <a:srgbClr val="4D4D4D"/>
                </a:solidFill>
              </a:defRPr>
            </a:lvl1pPr>
            <a:lvl2pPr algn="ctr">
              <a:defRPr sz="5400" b="1">
                <a:solidFill>
                  <a:srgbClr val="4D4D4D"/>
                </a:solidFill>
              </a:defRPr>
            </a:lvl2pPr>
            <a:lvl3pPr algn="ctr">
              <a:defRPr sz="5400" b="1">
                <a:solidFill>
                  <a:srgbClr val="4D4D4D"/>
                </a:solidFill>
              </a:defRPr>
            </a:lvl3pPr>
            <a:lvl4pPr algn="ctr">
              <a:defRPr sz="5400" b="1">
                <a:solidFill>
                  <a:srgbClr val="4D4D4D"/>
                </a:solidFill>
              </a:defRPr>
            </a:lvl4pPr>
            <a:lvl5pPr algn="ctr">
              <a:defRPr sz="5400" b="1">
                <a:solidFill>
                  <a:srgbClr val="4D4D4D"/>
                </a:solidFill>
              </a:defRPr>
            </a:lvl5pPr>
            <a:lvl6pPr algn="ctr">
              <a:defRPr sz="5400" b="1">
                <a:solidFill>
                  <a:srgbClr val="4D4D4D"/>
                </a:solidFill>
              </a:defRPr>
            </a:lvl6pPr>
            <a:lvl7pPr algn="ctr">
              <a:defRPr sz="5400" b="1">
                <a:solidFill>
                  <a:srgbClr val="4D4D4D"/>
                </a:solidFill>
              </a:defRPr>
            </a:lvl7pPr>
            <a:lvl8pPr algn="ctr">
              <a:defRPr sz="5400" b="1">
                <a:solidFill>
                  <a:srgbClr val="4D4D4D"/>
                </a:solidFill>
              </a:defRPr>
            </a:lvl8pPr>
            <a:lvl9pPr algn="ctr">
              <a:defRPr sz="5400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rgbClr val="4D4D4D"/>
                </a:solidFill>
              </a:defRPr>
            </a:pPr>
            <a:r>
              <a:rPr sz="5400" b="1">
                <a:solidFill>
                  <a:srgbClr val="4D4D4D"/>
                </a:solidFill>
              </a:rPr>
              <a:t>Results</a:t>
            </a:r>
            <a:endParaRPr sz="7200" b="1">
              <a:solidFill>
                <a:schemeClr val="dk2"/>
              </a:solidFill>
            </a:endParaRPr>
          </a:p>
        </p:txBody>
      </p:sp>
      <p:sp>
        <p:nvSpPr>
          <p:cNvPr id="74" name="Google Shape;74;p13">
            <a:extLst xmlns:a="http://schemas.openxmlformats.org/drawingml/2006/main">
              <a:ext uri="{FF2B5EF4-FFF2-40B4-BE49-F238E27FC236}">
                <a16:creationId xmlns:a16="http://schemas.microsoft.com/office/drawing/2014/main" id="{4733D012-595D-4C7C-8DE8-5EC2371C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8429625"/>
            <a:ext cx="1188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11250" b="1">
                <a:solidFill>
                  <a:srgbClr val="B30822"/>
                </a:solidFill>
              </a:defRPr>
            </a:defPPr>
            <a:lvl1pPr algn="ctr">
              <a:defRPr sz="11250" b="1">
                <a:solidFill>
                  <a:srgbClr val="B30822"/>
                </a:solidFill>
              </a:defRPr>
            </a:lvl1pPr>
            <a:lvl2pPr algn="ctr">
              <a:defRPr sz="11250" b="1">
                <a:solidFill>
                  <a:srgbClr val="B30822"/>
                </a:solidFill>
              </a:defRPr>
            </a:lvl2pPr>
            <a:lvl3pPr algn="ctr">
              <a:defRPr sz="11250" b="1">
                <a:solidFill>
                  <a:srgbClr val="B30822"/>
                </a:solidFill>
              </a:defRPr>
            </a:lvl3pPr>
            <a:lvl4pPr algn="ctr">
              <a:defRPr sz="11250" b="1">
                <a:solidFill>
                  <a:srgbClr val="B30822"/>
                </a:solidFill>
              </a:defRPr>
            </a:lvl4pPr>
            <a:lvl5pPr algn="ctr">
              <a:defRPr sz="11250" b="1">
                <a:solidFill>
                  <a:srgbClr val="B30822"/>
                </a:solidFill>
              </a:defRPr>
            </a:lvl5pPr>
            <a:lvl6pPr algn="ctr">
              <a:defRPr sz="11250" b="1">
                <a:solidFill>
                  <a:srgbClr val="B30822"/>
                </a:solidFill>
              </a:defRPr>
            </a:lvl6pPr>
            <a:lvl7pPr algn="ctr">
              <a:defRPr sz="11250" b="1">
                <a:solidFill>
                  <a:srgbClr val="B30822"/>
                </a:solidFill>
              </a:defRPr>
            </a:lvl7pPr>
            <a:lvl8pPr algn="ctr">
              <a:defRPr sz="11250" b="1">
                <a:solidFill>
                  <a:srgbClr val="B30822"/>
                </a:solidFill>
              </a:defRPr>
            </a:lvl8pPr>
            <a:lvl9pPr algn="ctr">
              <a:defRPr sz="11250" b="1">
                <a:solidFill>
                  <a:srgbClr val="B30822"/>
                </a:solidFill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11250" b="1">
                <a:solidFill>
                  <a:srgbClr val="B30822"/>
                </a:solidFill>
              </a:defRPr>
            </a:pPr>
            <a:r>
              <a:rPr sz="11250" b="1">
                <a:solidFill>
                  <a:srgbClr val="B30822"/>
                </a:solidFill>
              </a:rPr>
              <a:t>59.7%</a:t>
            </a:r>
            <a:endParaRPr sz="3600">
              <a:solidFill>
                <a:schemeClr val="dk2"/>
              </a:solidFill>
            </a:endParaRPr>
          </a:p>
        </p:txBody>
      </p:sp>
      <p:sp>
        <p:nvSpPr>
          <p:cNvPr id="79" name="Google Shape;79;p13">
            <a:extLst xmlns:a="http://schemas.openxmlformats.org/drawingml/2006/main">
              <a:ext uri="{FF2B5EF4-FFF2-40B4-BE49-F238E27FC236}">
                <a16:creationId xmlns:a16="http://schemas.microsoft.com/office/drawing/2014/main" id="{02203EA1-634F-4FD3-957A-3B46C561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1925" y="7048500"/>
            <a:ext cx="1188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5400" b="1">
                <a:solidFill>
                  <a:srgbClr val="4D4D4D"/>
                </a:solidFill>
              </a:defRPr>
            </a:defPPr>
            <a:lvl1pPr algn="ctr">
              <a:defRPr sz="5400" b="1">
                <a:solidFill>
                  <a:srgbClr val="4D4D4D"/>
                </a:solidFill>
              </a:defRPr>
            </a:lvl1pPr>
            <a:lvl2pPr algn="ctr">
              <a:defRPr sz="5400" b="1">
                <a:solidFill>
                  <a:srgbClr val="4D4D4D"/>
                </a:solidFill>
              </a:defRPr>
            </a:lvl2pPr>
            <a:lvl3pPr algn="ctr">
              <a:defRPr sz="5400" b="1">
                <a:solidFill>
                  <a:srgbClr val="4D4D4D"/>
                </a:solidFill>
              </a:defRPr>
            </a:lvl3pPr>
            <a:lvl4pPr algn="ctr">
              <a:defRPr sz="5400" b="1">
                <a:solidFill>
                  <a:srgbClr val="4D4D4D"/>
                </a:solidFill>
              </a:defRPr>
            </a:lvl4pPr>
            <a:lvl5pPr algn="ctr">
              <a:defRPr sz="5400" b="1">
                <a:solidFill>
                  <a:srgbClr val="4D4D4D"/>
                </a:solidFill>
              </a:defRPr>
            </a:lvl5pPr>
            <a:lvl6pPr algn="ctr">
              <a:defRPr sz="5400" b="1">
                <a:solidFill>
                  <a:srgbClr val="4D4D4D"/>
                </a:solidFill>
              </a:defRPr>
            </a:lvl6pPr>
            <a:lvl7pPr algn="ctr">
              <a:defRPr sz="5400" b="1">
                <a:solidFill>
                  <a:srgbClr val="4D4D4D"/>
                </a:solidFill>
              </a:defRPr>
            </a:lvl7pPr>
            <a:lvl8pPr algn="ctr">
              <a:defRPr sz="5400" b="1">
                <a:solidFill>
                  <a:srgbClr val="4D4D4D"/>
                </a:solidFill>
              </a:defRPr>
            </a:lvl8pPr>
            <a:lvl9pPr algn="ctr">
              <a:defRPr sz="5400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rgbClr val="4D4D4D"/>
                </a:solidFill>
              </a:defRPr>
            </a:pPr>
            <a:r>
              <a:rPr sz="5400" b="1">
                <a:solidFill>
                  <a:srgbClr val="4D4D4D"/>
                </a:solidFill>
              </a:rPr>
              <a:t>Discussion</a:t>
            </a:r>
            <a:endParaRPr sz="7200" b="1">
              <a:solidFill>
                <a:schemeClr val="dk2"/>
              </a:solidFill>
            </a:endParaRPr>
          </a:p>
        </p:txBody>
      </p:sp>
      <p:sp>
        <p:nvSpPr>
          <p:cNvPr id="80" name="Google Shape;80;p13">
            <a:extLst xmlns:a="http://schemas.openxmlformats.org/drawingml/2006/main">
              <a:ext uri="{FF2B5EF4-FFF2-40B4-BE49-F238E27FC236}">
                <a16:creationId xmlns:a16="http://schemas.microsoft.com/office/drawing/2014/main" id="{AAAF5841-B916-4C9D-B16C-FFE1B6B6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1925" y="8382000"/>
            <a:ext cx="11887200" cy="1000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4D4D4D"/>
                </a:solidFill>
              </a:defRPr>
            </a:defPPr>
            <a:lvl1pPr algn="l">
              <a:defRPr sz="3600" b="0">
                <a:solidFill>
                  <a:srgbClr val="4D4D4D"/>
                </a:solidFill>
              </a:defRPr>
            </a:lvl1pPr>
            <a:lvl2pPr algn="l">
              <a:defRPr sz="3600" b="0">
                <a:solidFill>
                  <a:srgbClr val="4D4D4D"/>
                </a:solidFill>
              </a:defRPr>
            </a:lvl2pPr>
            <a:lvl3pPr algn="l">
              <a:defRPr sz="3600" b="0">
                <a:solidFill>
                  <a:srgbClr val="4D4D4D"/>
                </a:solidFill>
              </a:defRPr>
            </a:lvl3pPr>
            <a:lvl4pPr algn="l">
              <a:defRPr sz="3600" b="0">
                <a:solidFill>
                  <a:srgbClr val="4D4D4D"/>
                </a:solidFill>
              </a:defRPr>
            </a:lvl4pPr>
            <a:lvl5pPr algn="l">
              <a:defRPr sz="3600" b="0">
                <a:solidFill>
                  <a:srgbClr val="4D4D4D"/>
                </a:solidFill>
              </a:defRPr>
            </a:lvl5pPr>
            <a:lvl6pPr algn="l">
              <a:defRPr sz="3600" b="0">
                <a:solidFill>
                  <a:srgbClr val="4D4D4D"/>
                </a:solidFill>
              </a:defRPr>
            </a:lvl6pPr>
            <a:lvl7pPr algn="l">
              <a:defRPr sz="3600" b="0">
                <a:solidFill>
                  <a:srgbClr val="4D4D4D"/>
                </a:solidFill>
              </a:defRPr>
            </a:lvl7pPr>
            <a:lvl8pPr algn="l">
              <a:defRPr sz="3600" b="0">
                <a:solidFill>
                  <a:srgbClr val="4D4D4D"/>
                </a:solidFill>
              </a:defRPr>
            </a:lvl8pPr>
            <a:lvl9pPr algn="l">
              <a:defRPr sz="36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Later first cohabitation was associated with lower adjusted odds of childbearing or current pregnancy. A spousal age gap of at least 11 years was associated with higher odds. Higher husband education remained inconclusive after expanded adjustment.</a:t>
            </a:r>
            <a:endParaRPr sz="3600">
              <a:solidFill>
                <a:schemeClr val="dk2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Interpretation depends on the observation window: current age and time since cohabitation strongly shape these cumulative outcomes. Cohabitation at ages 18–19 occurs only among respondents already aged 18–19.</a:t>
            </a:r>
            <a:endParaRPr sz="3600">
              <a:solidFill>
                <a:schemeClr val="dk2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Limitations: Cross-sectional data, selection into marriage, interview-time covariates and limited age/cohabitation overlap constrain causal interpretation. Results do not estimate the effect of delaying marriage or a marriage law.</a:t>
            </a:r>
            <a:endParaRPr sz="3600">
              <a:solidFill>
                <a:schemeClr val="dk2"/>
              </a:solidFill>
            </a:endParaRPr>
          </a:p>
        </p:txBody>
      </p:sp>
      <p:sp>
        <p:nvSpPr>
          <p:cNvPr id="81" name="Google Shape;81;p13">
            <a:extLst xmlns:a="http://schemas.openxmlformats.org/drawingml/2006/main">
              <a:ext uri="{FF2B5EF4-FFF2-40B4-BE49-F238E27FC236}">
                <a16:creationId xmlns:a16="http://schemas.microsoft.com/office/drawing/2014/main" id="{13529173-A46C-4779-BDA5-1A10419E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1925" y="19050000"/>
            <a:ext cx="1188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5400" b="1">
                <a:solidFill>
                  <a:srgbClr val="4D4D4D"/>
                </a:solidFill>
              </a:defRPr>
            </a:defPPr>
            <a:lvl1pPr algn="ctr">
              <a:defRPr sz="5400" b="1">
                <a:solidFill>
                  <a:srgbClr val="4D4D4D"/>
                </a:solidFill>
              </a:defRPr>
            </a:lvl1pPr>
            <a:lvl2pPr algn="ctr">
              <a:defRPr sz="5400" b="1">
                <a:solidFill>
                  <a:srgbClr val="4D4D4D"/>
                </a:solidFill>
              </a:defRPr>
            </a:lvl2pPr>
            <a:lvl3pPr algn="ctr">
              <a:defRPr sz="5400" b="1">
                <a:solidFill>
                  <a:srgbClr val="4D4D4D"/>
                </a:solidFill>
              </a:defRPr>
            </a:lvl3pPr>
            <a:lvl4pPr algn="ctr">
              <a:defRPr sz="5400" b="1">
                <a:solidFill>
                  <a:srgbClr val="4D4D4D"/>
                </a:solidFill>
              </a:defRPr>
            </a:lvl4pPr>
            <a:lvl5pPr algn="ctr">
              <a:defRPr sz="5400" b="1">
                <a:solidFill>
                  <a:srgbClr val="4D4D4D"/>
                </a:solidFill>
              </a:defRPr>
            </a:lvl5pPr>
            <a:lvl6pPr algn="ctr">
              <a:defRPr sz="5400" b="1">
                <a:solidFill>
                  <a:srgbClr val="4D4D4D"/>
                </a:solidFill>
              </a:defRPr>
            </a:lvl6pPr>
            <a:lvl7pPr algn="ctr">
              <a:defRPr sz="5400" b="1">
                <a:solidFill>
                  <a:srgbClr val="4D4D4D"/>
                </a:solidFill>
              </a:defRPr>
            </a:lvl7pPr>
            <a:lvl8pPr algn="ctr">
              <a:defRPr sz="5400" b="1">
                <a:solidFill>
                  <a:srgbClr val="4D4D4D"/>
                </a:solidFill>
              </a:defRPr>
            </a:lvl8pPr>
            <a:lvl9pPr algn="ctr">
              <a:defRPr sz="5400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rgbClr val="4D4D4D"/>
                </a:solidFill>
              </a:defRPr>
            </a:pPr>
            <a:r>
              <a:rPr sz="5400" b="1">
                <a:solidFill>
                  <a:srgbClr val="4D4D4D"/>
                </a:solidFill>
              </a:rPr>
              <a:t>Conclusion</a:t>
            </a:r>
            <a:endParaRPr sz="7200" b="1">
              <a:solidFill>
                <a:schemeClr val="dk2"/>
              </a:solidFill>
            </a:endParaRPr>
          </a:p>
        </p:txBody>
      </p:sp>
      <p:sp>
        <p:nvSpPr>
          <p:cNvPr id="83" name="Google Shape;83;p13">
            <a:extLst xmlns:a="http://schemas.openxmlformats.org/drawingml/2006/main">
              <a:ext uri="{FF2B5EF4-FFF2-40B4-BE49-F238E27FC236}">
                <a16:creationId xmlns:a16="http://schemas.microsoft.com/office/drawing/2014/main" id="{7D940427-4C5C-4F6B-BD6A-006A1F3B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1925" y="24193500"/>
            <a:ext cx="1188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5400" b="1">
                <a:solidFill>
                  <a:srgbClr val="4D4D4D"/>
                </a:solidFill>
              </a:defRPr>
            </a:defPPr>
            <a:lvl1pPr algn="ctr">
              <a:defRPr sz="5400" b="1">
                <a:solidFill>
                  <a:srgbClr val="4D4D4D"/>
                </a:solidFill>
              </a:defRPr>
            </a:lvl1pPr>
            <a:lvl2pPr algn="ctr">
              <a:defRPr sz="5400" b="1">
                <a:solidFill>
                  <a:srgbClr val="4D4D4D"/>
                </a:solidFill>
              </a:defRPr>
            </a:lvl2pPr>
            <a:lvl3pPr algn="ctr">
              <a:defRPr sz="5400" b="1">
                <a:solidFill>
                  <a:srgbClr val="4D4D4D"/>
                </a:solidFill>
              </a:defRPr>
            </a:lvl3pPr>
            <a:lvl4pPr algn="ctr">
              <a:defRPr sz="5400" b="1">
                <a:solidFill>
                  <a:srgbClr val="4D4D4D"/>
                </a:solidFill>
              </a:defRPr>
            </a:lvl4pPr>
            <a:lvl5pPr algn="ctr">
              <a:defRPr sz="5400" b="1">
                <a:solidFill>
                  <a:srgbClr val="4D4D4D"/>
                </a:solidFill>
              </a:defRPr>
            </a:lvl5pPr>
            <a:lvl6pPr algn="ctr">
              <a:defRPr sz="5400" b="1">
                <a:solidFill>
                  <a:srgbClr val="4D4D4D"/>
                </a:solidFill>
              </a:defRPr>
            </a:lvl6pPr>
            <a:lvl7pPr algn="ctr">
              <a:defRPr sz="5400" b="1">
                <a:solidFill>
                  <a:srgbClr val="4D4D4D"/>
                </a:solidFill>
              </a:defRPr>
            </a:lvl7pPr>
            <a:lvl8pPr algn="ctr">
              <a:defRPr sz="5400" b="1">
                <a:solidFill>
                  <a:srgbClr val="4D4D4D"/>
                </a:solidFill>
              </a:defRPr>
            </a:lvl8pPr>
            <a:lvl9pPr algn="ctr">
              <a:defRPr sz="5400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rgbClr val="4D4D4D"/>
                </a:solidFill>
              </a:defRPr>
            </a:pPr>
            <a:r>
              <a:rPr sz="5400" b="1">
                <a:solidFill>
                  <a:srgbClr val="4D4D4D"/>
                </a:solidFill>
              </a:rPr>
              <a:t>Acknowledgements</a:t>
            </a:r>
            <a:endParaRPr sz="4800" b="1">
              <a:solidFill>
                <a:schemeClr val="dk2"/>
              </a:solidFill>
            </a:endParaRPr>
          </a:p>
        </p:txBody>
      </p:sp>
      <p:sp>
        <p:nvSpPr>
          <p:cNvPr id="84" name="Google Shape;84;p13">
            <a:extLst xmlns:a="http://schemas.openxmlformats.org/drawingml/2006/main">
              <a:ext uri="{FF2B5EF4-FFF2-40B4-BE49-F238E27FC236}">
                <a16:creationId xmlns:a16="http://schemas.microsoft.com/office/drawing/2014/main" id="{A8229D68-7CAB-459D-9E35-D61B5948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1925" y="26860500"/>
            <a:ext cx="1188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5400" b="1">
                <a:solidFill>
                  <a:srgbClr val="4D4D4D"/>
                </a:solidFill>
              </a:defRPr>
            </a:defPPr>
            <a:lvl1pPr algn="ctr">
              <a:defRPr sz="5400" b="1">
                <a:solidFill>
                  <a:srgbClr val="4D4D4D"/>
                </a:solidFill>
              </a:defRPr>
            </a:lvl1pPr>
            <a:lvl2pPr algn="ctr">
              <a:defRPr sz="5400" b="1">
                <a:solidFill>
                  <a:srgbClr val="4D4D4D"/>
                </a:solidFill>
              </a:defRPr>
            </a:lvl2pPr>
            <a:lvl3pPr algn="ctr">
              <a:defRPr sz="5400" b="1">
                <a:solidFill>
                  <a:srgbClr val="4D4D4D"/>
                </a:solidFill>
              </a:defRPr>
            </a:lvl3pPr>
            <a:lvl4pPr algn="ctr">
              <a:defRPr sz="5400" b="1">
                <a:solidFill>
                  <a:srgbClr val="4D4D4D"/>
                </a:solidFill>
              </a:defRPr>
            </a:lvl4pPr>
            <a:lvl5pPr algn="ctr">
              <a:defRPr sz="5400" b="1">
                <a:solidFill>
                  <a:srgbClr val="4D4D4D"/>
                </a:solidFill>
              </a:defRPr>
            </a:lvl5pPr>
            <a:lvl6pPr algn="ctr">
              <a:defRPr sz="5400" b="1">
                <a:solidFill>
                  <a:srgbClr val="4D4D4D"/>
                </a:solidFill>
              </a:defRPr>
            </a:lvl6pPr>
            <a:lvl7pPr algn="ctr">
              <a:defRPr sz="5400" b="1">
                <a:solidFill>
                  <a:srgbClr val="4D4D4D"/>
                </a:solidFill>
              </a:defRPr>
            </a:lvl7pPr>
            <a:lvl8pPr algn="ctr">
              <a:defRPr sz="5400" b="1">
                <a:solidFill>
                  <a:srgbClr val="4D4D4D"/>
                </a:solidFill>
              </a:defRPr>
            </a:lvl8pPr>
            <a:lvl9pPr algn="ctr">
              <a:defRPr sz="5400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rgbClr val="4D4D4D"/>
                </a:solidFill>
              </a:defRPr>
            </a:pPr>
            <a:r>
              <a:rPr sz="5400" b="1">
                <a:solidFill>
                  <a:srgbClr val="4D4D4D"/>
                </a:solidFill>
              </a:rPr>
              <a:t>References</a:t>
            </a:r>
            <a:endParaRPr sz="4800" b="1">
              <a:solidFill>
                <a:schemeClr val="dk2"/>
              </a:solidFill>
            </a:endParaRPr>
          </a:p>
        </p:txBody>
      </p:sp>
      <p:sp>
        <p:nvSpPr>
          <p:cNvPr id="85" name="Google Shape;85;p13">
            <a:extLst xmlns:a="http://schemas.openxmlformats.org/drawingml/2006/main">
              <a:ext uri="{FF2B5EF4-FFF2-40B4-BE49-F238E27FC236}">
                <a16:creationId xmlns:a16="http://schemas.microsoft.com/office/drawing/2014/main" id="{5F06EB09-65DD-4DC8-96DF-00F06632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1925" y="25336500"/>
            <a:ext cx="11887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4D4D4D"/>
                </a:solidFill>
              </a:defRPr>
            </a:defPPr>
            <a:lvl1pPr algn="l">
              <a:defRPr sz="3150" b="0">
                <a:solidFill>
                  <a:srgbClr val="4D4D4D"/>
                </a:solidFill>
              </a:defRPr>
            </a:lvl1pPr>
            <a:lvl2pPr algn="l">
              <a:defRPr sz="3150" b="0">
                <a:solidFill>
                  <a:srgbClr val="4D4D4D"/>
                </a:solidFill>
              </a:defRPr>
            </a:lvl2pPr>
            <a:lvl3pPr algn="l">
              <a:defRPr sz="3150" b="0">
                <a:solidFill>
                  <a:srgbClr val="4D4D4D"/>
                </a:solidFill>
              </a:defRPr>
            </a:lvl3pPr>
            <a:lvl4pPr algn="l">
              <a:defRPr sz="3150" b="0">
                <a:solidFill>
                  <a:srgbClr val="4D4D4D"/>
                </a:solidFill>
              </a:defRPr>
            </a:lvl4pPr>
            <a:lvl5pPr algn="l">
              <a:defRPr sz="3150" b="0">
                <a:solidFill>
                  <a:srgbClr val="4D4D4D"/>
                </a:solidFill>
              </a:defRPr>
            </a:lvl5pPr>
            <a:lvl6pPr algn="l">
              <a:defRPr sz="3150" b="0">
                <a:solidFill>
                  <a:srgbClr val="4D4D4D"/>
                </a:solidFill>
              </a:defRPr>
            </a:lvl6pPr>
            <a:lvl7pPr algn="l">
              <a:defRPr sz="3150" b="0">
                <a:solidFill>
                  <a:srgbClr val="4D4D4D"/>
                </a:solidFill>
              </a:defRPr>
            </a:lvl7pPr>
            <a:lvl8pPr algn="l">
              <a:defRPr sz="3150" b="0">
                <a:solidFill>
                  <a:srgbClr val="4D4D4D"/>
                </a:solidFill>
              </a:defRPr>
            </a:lvl8pPr>
            <a:lvl9pPr algn="l">
              <a:defRPr sz="315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rgbClr val="4D4D4D"/>
                </a:solidFill>
              </a:defRPr>
            </a:pPr>
            <a:r>
              <a:rPr sz="3150" b="0">
                <a:solidFill>
                  <a:srgbClr val="4D4D4D"/>
                </a:solidFill>
              </a:rPr>
              <a:t>We thank the BDHS respondents, NIPORT and ICF for the survey data, and our collaborating institutions.</a:t>
            </a:r>
            <a:endParaRPr sz="3600">
              <a:solidFill>
                <a:schemeClr val="dk2"/>
              </a:solidFill>
            </a:endParaRPr>
          </a:p>
        </p:txBody>
      </p:sp>
      <p:sp>
        <p:nvSpPr>
          <p:cNvPr id="87" name="authors">
            <a:extLst xmlns:a="http://schemas.openxmlformats.org/drawingml/2006/main">
              <a:ext uri="{FF2B5EF4-FFF2-40B4-BE49-F238E27FC236}">
                <a16:creationId xmlns:a16="http://schemas.microsoft.com/office/drawing/2014/main" id="{CE088A3F-7507-4BD3-8F6E-08B10E13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3343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4D4D4D"/>
                </a:solidFill>
              </a:defRPr>
            </a:defPPr>
            <a:lvl1pPr algn="l">
              <a:defRPr sz="3600" b="1">
                <a:solidFill>
                  <a:srgbClr val="4D4D4D"/>
                </a:solidFill>
              </a:defRPr>
            </a:lvl1pPr>
            <a:lvl2pPr algn="l">
              <a:defRPr sz="3600" b="1">
                <a:solidFill>
                  <a:srgbClr val="4D4D4D"/>
                </a:solidFill>
              </a:defRPr>
            </a:lvl2pPr>
            <a:lvl3pPr algn="l">
              <a:defRPr sz="3600" b="1">
                <a:solidFill>
                  <a:srgbClr val="4D4D4D"/>
                </a:solidFill>
              </a:defRPr>
            </a:lvl3pPr>
            <a:lvl4pPr algn="l">
              <a:defRPr sz="3600" b="1">
                <a:solidFill>
                  <a:srgbClr val="4D4D4D"/>
                </a:solidFill>
              </a:defRPr>
            </a:lvl4pPr>
            <a:lvl5pPr algn="l">
              <a:defRPr sz="3600" b="1">
                <a:solidFill>
                  <a:srgbClr val="4D4D4D"/>
                </a:solidFill>
              </a:defRPr>
            </a:lvl5pPr>
            <a:lvl6pPr algn="l">
              <a:defRPr sz="3600" b="1">
                <a:solidFill>
                  <a:srgbClr val="4D4D4D"/>
                </a:solidFill>
              </a:defRPr>
            </a:lvl6pPr>
            <a:lvl7pPr algn="l">
              <a:defRPr sz="3600" b="1">
                <a:solidFill>
                  <a:srgbClr val="4D4D4D"/>
                </a:solidFill>
              </a:defRPr>
            </a:lvl7pPr>
            <a:lvl8pPr algn="l">
              <a:defRPr sz="3600" b="1">
                <a:solidFill>
                  <a:srgbClr val="4D4D4D"/>
                </a:solidFill>
              </a:defRPr>
            </a:lvl8pPr>
            <a:lvl9pPr algn="l">
              <a:defRPr sz="3600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4D4D4D"/>
                </a:solidFill>
              </a:defRPr>
            </a:pPr>
            <a:r>
              <a:rPr sz="3600" b="1">
                <a:solidFill>
                  <a:srgbClr val="4D4D4D"/>
                </a:solidFill>
              </a:rPr>
              <a:t>Md. Ikramul Haq Khan¹˒³, Israt Jahan⁴, Mohammad Amirul Islam¹, Rohan Dalpatadu³, Mohammad Karim²</a:t>
            </a:r>
          </a:p>
        </p:txBody>
      </p:sp>
      <p:sp>
        <p:nvSpPr>
          <p:cNvPr id="88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9354BAD9-6B99-4A99-9DC2-B616BB45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95875"/>
            <a:ext cx="3343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0">
                <a:solidFill>
                  <a:srgbClr val="4D4D4D"/>
                </a:solidFill>
              </a:defRPr>
            </a:defPPr>
            <a:lvl1pPr algn="l">
              <a:defRPr sz="3150" b="0">
                <a:solidFill>
                  <a:srgbClr val="4D4D4D"/>
                </a:solidFill>
              </a:defRPr>
            </a:lvl1pPr>
            <a:lvl2pPr algn="l">
              <a:defRPr sz="3150" b="0">
                <a:solidFill>
                  <a:srgbClr val="4D4D4D"/>
                </a:solidFill>
              </a:defRPr>
            </a:lvl2pPr>
            <a:lvl3pPr algn="l">
              <a:defRPr sz="3150" b="0">
                <a:solidFill>
                  <a:srgbClr val="4D4D4D"/>
                </a:solidFill>
              </a:defRPr>
            </a:lvl3pPr>
            <a:lvl4pPr algn="l">
              <a:defRPr sz="3150" b="0">
                <a:solidFill>
                  <a:srgbClr val="4D4D4D"/>
                </a:solidFill>
              </a:defRPr>
            </a:lvl4pPr>
            <a:lvl5pPr algn="l">
              <a:defRPr sz="3150" b="0">
                <a:solidFill>
                  <a:srgbClr val="4D4D4D"/>
                </a:solidFill>
              </a:defRPr>
            </a:lvl5pPr>
            <a:lvl6pPr algn="l">
              <a:defRPr sz="3150" b="0">
                <a:solidFill>
                  <a:srgbClr val="4D4D4D"/>
                </a:solidFill>
              </a:defRPr>
            </a:lvl6pPr>
            <a:lvl7pPr algn="l">
              <a:defRPr sz="3150" b="0">
                <a:solidFill>
                  <a:srgbClr val="4D4D4D"/>
                </a:solidFill>
              </a:defRPr>
            </a:lvl7pPr>
            <a:lvl8pPr algn="l">
              <a:defRPr sz="3150" b="0">
                <a:solidFill>
                  <a:srgbClr val="4D4D4D"/>
                </a:solidFill>
              </a:defRPr>
            </a:lvl8pPr>
            <a:lvl9pPr algn="l">
              <a:defRPr sz="315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4D4D4D"/>
                </a:solidFill>
              </a:defRPr>
            </a:pPr>
            <a:r>
              <a:rPr sz="3150" b="0">
                <a:solidFill>
                  <a:srgbClr val="4D4D4D"/>
                </a:solidFill>
              </a:rPr>
              <a:t>¹ Bangladesh Agricultural University   ² School of Public Health, UNLV</a:t>
            </a:r>
          </a:p>
          <a:p xmlns:a="http://schemas.openxmlformats.org/drawingml/2006/main">
            <a:pPr algn="l">
              <a:defRPr sz="3150" b="0">
                <a:solidFill>
                  <a:srgbClr val="4D4D4D"/>
                </a:solidFill>
              </a:defRPr>
            </a:pPr>
            <a:r>
              <a:rPr sz="3150" b="0">
                <a:solidFill>
                  <a:srgbClr val="4D4D4D"/>
                </a:solidFill>
              </a:rPr>
              <a:t>³ Department of Mathematical Sciences, UNLV   ⁴ Mymensingh Medical College, Bangladesh</a:t>
            </a:r>
          </a:p>
        </p:txBody>
      </p:sp>
      <p:sp>
        <p:nvSpPr>
          <p:cNvPr id="89" name="replacement-sh/ra54bix8">
            <a:extLst xmlns:a="http://schemas.openxmlformats.org/drawingml/2006/main">
              <a:ext uri="{FF2B5EF4-FFF2-40B4-BE49-F238E27FC236}">
                <a16:creationId xmlns:a16="http://schemas.microsoft.com/office/drawing/2014/main" id="{C16C9996-A295-4F78-B158-4DEA7F9E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621000"/>
            <a:ext cx="11887200" cy="97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4D4D4D"/>
                </a:solidFill>
              </a:defRPr>
            </a:defPPr>
            <a:lvl1pPr algn="l">
              <a:defRPr sz="3600" b="0">
                <a:solidFill>
                  <a:srgbClr val="4D4D4D"/>
                </a:solidFill>
              </a:defRPr>
            </a:lvl1pPr>
            <a:lvl2pPr algn="l">
              <a:defRPr sz="3600" b="0">
                <a:solidFill>
                  <a:srgbClr val="4D4D4D"/>
                </a:solidFill>
              </a:defRPr>
            </a:lvl2pPr>
            <a:lvl3pPr algn="l">
              <a:defRPr sz="3600" b="0">
                <a:solidFill>
                  <a:srgbClr val="4D4D4D"/>
                </a:solidFill>
              </a:defRPr>
            </a:lvl3pPr>
            <a:lvl4pPr algn="l">
              <a:defRPr sz="3600" b="0">
                <a:solidFill>
                  <a:srgbClr val="4D4D4D"/>
                </a:solidFill>
              </a:defRPr>
            </a:lvl4pPr>
            <a:lvl5pPr algn="l">
              <a:defRPr sz="3600" b="0">
                <a:solidFill>
                  <a:srgbClr val="4D4D4D"/>
                </a:solidFill>
              </a:defRPr>
            </a:lvl5pPr>
            <a:lvl6pPr algn="l">
              <a:defRPr sz="3600" b="0">
                <a:solidFill>
                  <a:srgbClr val="4D4D4D"/>
                </a:solidFill>
              </a:defRPr>
            </a:lvl6pPr>
            <a:lvl7pPr algn="l">
              <a:defRPr sz="3600" b="0">
                <a:solidFill>
                  <a:srgbClr val="4D4D4D"/>
                </a:solidFill>
              </a:defRPr>
            </a:lvl7pPr>
            <a:lvl8pPr algn="l">
              <a:defRPr sz="3600" b="0">
                <a:solidFill>
                  <a:srgbClr val="4D4D4D"/>
                </a:solidFill>
              </a:defRPr>
            </a:lvl8pPr>
            <a:lvl9pPr algn="l">
              <a:defRPr sz="36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Data: 2022 Bangladesh Demographic and Health Survey (BDHS), ages 15–19. [1]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Outcome: At least one live birth or currently pregnant at interview. This is a proportion, not a birth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Regression: Survey-weighted logistic model with current age, respondent education, official wealth quintile, cohabitation age, husband education, signed spousal age gap, residence and division. Work was examined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Design: V005/1,000,000 weights, V021 PSUs and V023 strata. Domain estimation retained the full design. Taylor variance and t-based 95% intervals. [3]</a:t>
            </a:r>
          </a:p>
        </p:txBody>
      </p:sp>
      <p:sp>
        <p:nvSpPr>
          <p:cNvPr id="90" name="sample-heading">
            <a:extLst xmlns:a="http://schemas.openxmlformats.org/drawingml/2006/main">
              <a:ext uri="{FF2B5EF4-FFF2-40B4-BE49-F238E27FC236}">
                <a16:creationId xmlns:a16="http://schemas.microsoft.com/office/drawing/2014/main" id="{AD435378-E398-428C-8617-E95D0896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098500"/>
            <a:ext cx="1188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200" b="1">
                <a:solidFill>
                  <a:srgbClr val="4D4D4D"/>
                </a:solidFill>
              </a:defRPr>
            </a:defPPr>
            <a:lvl1pPr algn="l">
              <a:defRPr sz="4200" b="1">
                <a:solidFill>
                  <a:srgbClr val="4D4D4D"/>
                </a:solidFill>
              </a:defRPr>
            </a:lvl1pPr>
            <a:lvl2pPr algn="l">
              <a:defRPr sz="4200" b="1">
                <a:solidFill>
                  <a:srgbClr val="4D4D4D"/>
                </a:solidFill>
              </a:defRPr>
            </a:lvl2pPr>
            <a:lvl3pPr algn="l">
              <a:defRPr sz="4200" b="1">
                <a:solidFill>
                  <a:srgbClr val="4D4D4D"/>
                </a:solidFill>
              </a:defRPr>
            </a:lvl3pPr>
            <a:lvl4pPr algn="l">
              <a:defRPr sz="4200" b="1">
                <a:solidFill>
                  <a:srgbClr val="4D4D4D"/>
                </a:solidFill>
              </a:defRPr>
            </a:lvl4pPr>
            <a:lvl5pPr algn="l">
              <a:defRPr sz="4200" b="1">
                <a:solidFill>
                  <a:srgbClr val="4D4D4D"/>
                </a:solidFill>
              </a:defRPr>
            </a:lvl5pPr>
            <a:lvl6pPr algn="l">
              <a:defRPr sz="4200" b="1">
                <a:solidFill>
                  <a:srgbClr val="4D4D4D"/>
                </a:solidFill>
              </a:defRPr>
            </a:lvl6pPr>
            <a:lvl7pPr algn="l">
              <a:defRPr sz="4200" b="1">
                <a:solidFill>
                  <a:srgbClr val="4D4D4D"/>
                </a:solidFill>
              </a:defRPr>
            </a:lvl7pPr>
            <a:lvl8pPr algn="l">
              <a:defRPr sz="4200" b="1">
                <a:solidFill>
                  <a:srgbClr val="4D4D4D"/>
                </a:solidFill>
              </a:defRPr>
            </a:lvl8pPr>
            <a:lvl9pPr algn="l">
              <a:defRPr sz="4200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4D4D4D"/>
                </a:solidFill>
              </a:defRPr>
            </a:pPr>
            <a:r>
              <a:rPr sz="4200" b="1">
                <a:solidFill>
                  <a:srgbClr val="4D4D4D"/>
                </a:solidFill>
              </a:rPr>
              <a:t>Sample selection</a:t>
            </a:r>
          </a:p>
        </p:txBody>
      </p:sp>
      <p:sp>
        <p:nvSpPr>
          <p:cNvPr id="91" name="sample-flow">
            <a:extLst xmlns:a="http://schemas.openxmlformats.org/drawingml/2006/main">
              <a:ext uri="{FF2B5EF4-FFF2-40B4-BE49-F238E27FC236}">
                <a16:creationId xmlns:a16="http://schemas.microsoft.com/office/drawing/2014/main" id="{EC187EE0-7504-45FC-B8AD-E60372F1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146250"/>
            <a:ext cx="118872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450" b="0">
                <a:solidFill>
                  <a:srgbClr val="4D4D4D"/>
                </a:solidFill>
              </a:defRPr>
            </a:defPPr>
            <a:lvl1pPr algn="l">
              <a:defRPr sz="3450" b="0">
                <a:solidFill>
                  <a:srgbClr val="4D4D4D"/>
                </a:solidFill>
              </a:defRPr>
            </a:lvl1pPr>
            <a:lvl2pPr algn="l">
              <a:defRPr sz="3450" b="0">
                <a:solidFill>
                  <a:srgbClr val="4D4D4D"/>
                </a:solidFill>
              </a:defRPr>
            </a:lvl2pPr>
            <a:lvl3pPr algn="l">
              <a:defRPr sz="3450" b="0">
                <a:solidFill>
                  <a:srgbClr val="4D4D4D"/>
                </a:solidFill>
              </a:defRPr>
            </a:lvl3pPr>
            <a:lvl4pPr algn="l">
              <a:defRPr sz="3450" b="0">
                <a:solidFill>
                  <a:srgbClr val="4D4D4D"/>
                </a:solidFill>
              </a:defRPr>
            </a:lvl4pPr>
            <a:lvl5pPr algn="l">
              <a:defRPr sz="3450" b="0">
                <a:solidFill>
                  <a:srgbClr val="4D4D4D"/>
                </a:solidFill>
              </a:defRPr>
            </a:lvl5pPr>
            <a:lvl6pPr algn="l">
              <a:defRPr sz="3450" b="0">
                <a:solidFill>
                  <a:srgbClr val="4D4D4D"/>
                </a:solidFill>
              </a:defRPr>
            </a:lvl6pPr>
            <a:lvl7pPr algn="l">
              <a:defRPr sz="3450" b="0">
                <a:solidFill>
                  <a:srgbClr val="4D4D4D"/>
                </a:solidFill>
              </a:defRPr>
            </a:lvl7pPr>
            <a:lvl8pPr algn="l">
              <a:defRPr sz="3450" b="0">
                <a:solidFill>
                  <a:srgbClr val="4D4D4D"/>
                </a:solidFill>
              </a:defRPr>
            </a:lvl8pPr>
            <a:lvl9pPr algn="l">
              <a:defRPr sz="345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4D4D4D"/>
                </a:solidFill>
              </a:defRPr>
            </a:pPr>
            <a:r>
              <a:rPr sz="3450" b="0">
                <a:solidFill>
                  <a:srgbClr val="4D4D4D"/>
                </a:solidFill>
              </a:rPr>
              <a:t>2,449 ever-married adolescents (descriptive sample)</a:t>
            </a:r>
          </a:p>
          <a:p xmlns:a="http://schemas.openxmlformats.org/drawingml/2006/main">
            <a:pPr algn="l">
              <a:defRPr sz="3450" b="0">
                <a:solidFill>
                  <a:srgbClr val="4D4D4D"/>
                </a:solidFill>
              </a:defRPr>
            </a:pPr>
            <a:r>
              <a:rPr sz="3450" b="0">
                <a:solidFill>
                  <a:srgbClr val="4D4D4D"/>
                </a:solidFill>
              </a:rPr>
              <a:t>1,635 received the long questionnaire</a:t>
            </a:r>
          </a:p>
          <a:p xmlns:a="http://schemas.openxmlformats.org/drawingml/2006/main">
            <a:pPr algn="l">
              <a:defRPr sz="3450" b="0">
                <a:solidFill>
                  <a:srgbClr val="4D4D4D"/>
                </a:solidFill>
              </a:defRPr>
            </a:pPr>
            <a:r>
              <a:rPr sz="3450" b="0">
                <a:solidFill>
                  <a:srgbClr val="4D4D4D"/>
                </a:solidFill>
              </a:rPr>
              <a:t>1,603 were currently married</a:t>
            </a:r>
          </a:p>
          <a:p xmlns:a="http://schemas.openxmlformats.org/drawingml/2006/main">
            <a:pPr algn="l">
              <a:defRPr sz="3450" b="0">
                <a:solidFill>
                  <a:srgbClr val="4D4D4D"/>
                </a:solidFill>
              </a:defRPr>
            </a:pPr>
            <a:r>
              <a:rPr sz="3450" b="0">
                <a:solidFill>
                  <a:srgbClr val="4D4D4D"/>
                </a:solidFill>
              </a:rPr>
              <a:t>1,601 had complete regression information</a:t>
            </a:r>
          </a:p>
        </p:txBody>
      </p:sp>
      <p:sp>
        <p:nvSpPr>
          <p:cNvPr id="92" name="sample-exclusions">
            <a:extLst xmlns:a="http://schemas.openxmlformats.org/drawingml/2006/main">
              <a:ext uri="{FF2B5EF4-FFF2-40B4-BE49-F238E27FC236}">
                <a16:creationId xmlns:a16="http://schemas.microsoft.com/office/drawing/2014/main" id="{E9F1D71B-D61C-4DC0-9B7F-995B8111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527625"/>
            <a:ext cx="11887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0">
                <a:solidFill>
                  <a:srgbClr val="4D4D4D"/>
                </a:solidFill>
              </a:defRPr>
            </a:defPPr>
            <a:lvl1pPr algn="l">
              <a:defRPr sz="3150" b="0">
                <a:solidFill>
                  <a:srgbClr val="4D4D4D"/>
                </a:solidFill>
              </a:defRPr>
            </a:lvl1pPr>
            <a:lvl2pPr algn="l">
              <a:defRPr sz="3150" b="0">
                <a:solidFill>
                  <a:srgbClr val="4D4D4D"/>
                </a:solidFill>
              </a:defRPr>
            </a:lvl2pPr>
            <a:lvl3pPr algn="l">
              <a:defRPr sz="3150" b="0">
                <a:solidFill>
                  <a:srgbClr val="4D4D4D"/>
                </a:solidFill>
              </a:defRPr>
            </a:lvl3pPr>
            <a:lvl4pPr algn="l">
              <a:defRPr sz="3150" b="0">
                <a:solidFill>
                  <a:srgbClr val="4D4D4D"/>
                </a:solidFill>
              </a:defRPr>
            </a:lvl4pPr>
            <a:lvl5pPr algn="l">
              <a:defRPr sz="3150" b="0">
                <a:solidFill>
                  <a:srgbClr val="4D4D4D"/>
                </a:solidFill>
              </a:defRPr>
            </a:lvl5pPr>
            <a:lvl6pPr algn="l">
              <a:defRPr sz="3150" b="0">
                <a:solidFill>
                  <a:srgbClr val="4D4D4D"/>
                </a:solidFill>
              </a:defRPr>
            </a:lvl6pPr>
            <a:lvl7pPr algn="l">
              <a:defRPr sz="3150" b="0">
                <a:solidFill>
                  <a:srgbClr val="4D4D4D"/>
                </a:solidFill>
              </a:defRPr>
            </a:lvl7pPr>
            <a:lvl8pPr algn="l">
              <a:defRPr sz="3150" b="0">
                <a:solidFill>
                  <a:srgbClr val="4D4D4D"/>
                </a:solidFill>
              </a:defRPr>
            </a:lvl8pPr>
            <a:lvl9pPr algn="l">
              <a:defRPr sz="315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4D4D4D"/>
                </a:solidFill>
              </a:defRPr>
            </a:pPr>
            <a:r>
              <a:rPr sz="3150" b="0">
                <a:solidFill>
                  <a:srgbClr val="4D4D4D"/>
                </a:solidFill>
              </a:rPr>
              <a:t>Exclusions: 814 short questionnaires, 32 formerly married respondents and 2 unknown husband-education values. Questionnaire assignment is distinct from item nonresponse.</a:t>
            </a:r>
          </a:p>
        </p:txBody>
      </p:sp>
      <p:sp>
        <p:nvSpPr>
          <p:cNvPr id="93" name="replacement-sh/d0j29on6">
            <a:extLst xmlns:a="http://schemas.openxmlformats.org/drawingml/2006/main">
              <a:ext uri="{FF2B5EF4-FFF2-40B4-BE49-F238E27FC236}">
                <a16:creationId xmlns:a16="http://schemas.microsoft.com/office/drawing/2014/main" id="{0400D7F7-9071-4ED2-86AA-0E100926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1925" y="20383500"/>
            <a:ext cx="118872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4D4D4D"/>
                </a:solidFill>
              </a:defRPr>
            </a:defPPr>
            <a:lvl1pPr algn="l">
              <a:defRPr sz="3600" b="0">
                <a:solidFill>
                  <a:srgbClr val="4D4D4D"/>
                </a:solidFill>
              </a:defRPr>
            </a:lvl1pPr>
            <a:lvl2pPr algn="l">
              <a:defRPr sz="3600" b="0">
                <a:solidFill>
                  <a:srgbClr val="4D4D4D"/>
                </a:solidFill>
              </a:defRPr>
            </a:lvl2pPr>
            <a:lvl3pPr algn="l">
              <a:defRPr sz="3600" b="0">
                <a:solidFill>
                  <a:srgbClr val="4D4D4D"/>
                </a:solidFill>
              </a:defRPr>
            </a:lvl3pPr>
            <a:lvl4pPr algn="l">
              <a:defRPr sz="3600" b="0">
                <a:solidFill>
                  <a:srgbClr val="4D4D4D"/>
                </a:solidFill>
              </a:defRPr>
            </a:lvl4pPr>
            <a:lvl5pPr algn="l">
              <a:defRPr sz="3600" b="0">
                <a:solidFill>
                  <a:srgbClr val="4D4D4D"/>
                </a:solidFill>
              </a:defRPr>
            </a:lvl5pPr>
            <a:lvl6pPr algn="l">
              <a:defRPr sz="3600" b="0">
                <a:solidFill>
                  <a:srgbClr val="4D4D4D"/>
                </a:solidFill>
              </a:defRPr>
            </a:lvl6pPr>
            <a:lvl7pPr algn="l">
              <a:defRPr sz="3600" b="0">
                <a:solidFill>
                  <a:srgbClr val="4D4D4D"/>
                </a:solidFill>
              </a:defRPr>
            </a:lvl7pPr>
            <a:lvl8pPr algn="l">
              <a:defRPr sz="3600" b="0">
                <a:solidFill>
                  <a:srgbClr val="4D4D4D"/>
                </a:solidFill>
              </a:defRPr>
            </a:lvl8pPr>
            <a:lvl9pPr algn="l">
              <a:defRPr sz="36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Cohabitation timing and spousal age gap show reproducible conditional associations in this population.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Interpret findings as associations among married adolescents. Further work should address timing and model specification before causal or predictive use.</a:t>
            </a:r>
          </a:p>
        </p:txBody>
      </p:sp>
      <p:sp>
        <p:nvSpPr>
          <p:cNvPr id="94" name="replacement-sh/pcz254na">
            <a:extLst xmlns:a="http://schemas.openxmlformats.org/drawingml/2006/main">
              <a:ext uri="{FF2B5EF4-FFF2-40B4-BE49-F238E27FC236}">
                <a16:creationId xmlns:a16="http://schemas.microsoft.com/office/drawing/2014/main" id="{0DB582CE-3F59-415D-A636-BEF9E5AC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1925" y="28098750"/>
            <a:ext cx="118872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0">
                <a:solidFill>
                  <a:srgbClr val="4D4D4D"/>
                </a:solidFill>
              </a:defRPr>
            </a:defPPr>
            <a:lvl1pPr algn="l">
              <a:defRPr sz="2850" b="0">
                <a:solidFill>
                  <a:srgbClr val="4D4D4D"/>
                </a:solidFill>
              </a:defRPr>
            </a:lvl1pPr>
            <a:lvl2pPr algn="l">
              <a:defRPr sz="2850" b="0">
                <a:solidFill>
                  <a:srgbClr val="4D4D4D"/>
                </a:solidFill>
              </a:defRPr>
            </a:lvl2pPr>
            <a:lvl3pPr algn="l">
              <a:defRPr sz="2850" b="0">
                <a:solidFill>
                  <a:srgbClr val="4D4D4D"/>
                </a:solidFill>
              </a:defRPr>
            </a:lvl3pPr>
            <a:lvl4pPr algn="l">
              <a:defRPr sz="2850" b="0">
                <a:solidFill>
                  <a:srgbClr val="4D4D4D"/>
                </a:solidFill>
              </a:defRPr>
            </a:lvl4pPr>
            <a:lvl5pPr algn="l">
              <a:defRPr sz="2850" b="0">
                <a:solidFill>
                  <a:srgbClr val="4D4D4D"/>
                </a:solidFill>
              </a:defRPr>
            </a:lvl5pPr>
            <a:lvl6pPr algn="l">
              <a:defRPr sz="2850" b="0">
                <a:solidFill>
                  <a:srgbClr val="4D4D4D"/>
                </a:solidFill>
              </a:defRPr>
            </a:lvl6pPr>
            <a:lvl7pPr algn="l">
              <a:defRPr sz="2850" b="0">
                <a:solidFill>
                  <a:srgbClr val="4D4D4D"/>
                </a:solidFill>
              </a:defRPr>
            </a:lvl7pPr>
            <a:lvl8pPr algn="l">
              <a:defRPr sz="2850" b="0">
                <a:solidFill>
                  <a:srgbClr val="4D4D4D"/>
                </a:solidFill>
              </a:defRPr>
            </a:lvl8pPr>
            <a:lvl9pPr algn="l">
              <a:defRPr sz="285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4D4D4D"/>
                </a:solidFill>
              </a:defRPr>
            </a:pPr>
            <a:r>
              <a:rPr sz="2850" b="0">
                <a:solidFill>
                  <a:srgbClr val="4D4D4D"/>
                </a:solidFill>
              </a:rPr>
              <a:t>[1] NIPORT &amp; ICF. Bangladesh Demographic and Health Survey 2022. 2024. Sections 1.2–1.3, Table 3.1.2, Appendix A.4.</a:t>
            </a:r>
          </a:p>
          <a:p xmlns:a="http://schemas.openxmlformats.org/drawingml/2006/main">
            <a:pPr algn="l">
              <a:defRPr sz="2850" b="0">
                <a:solidFill>
                  <a:srgbClr val="4D4D4D"/>
                </a:solidFill>
              </a:defRPr>
            </a:pPr>
            <a:r>
              <a:rPr sz="2850" b="0">
                <a:solidFill>
                  <a:srgbClr val="4D4D4D"/>
                </a:solidFill>
              </a:rPr>
              <a:t>[2] Bongaarts J. The proximate determinants of fertility. Technology in Society. 1987;9:243–260.</a:t>
            </a:r>
          </a:p>
          <a:p xmlns:a="http://schemas.openxmlformats.org/drawingml/2006/main">
            <a:pPr algn="l">
              <a:defRPr sz="2850" b="0">
                <a:solidFill>
                  <a:srgbClr val="4D4D4D"/>
                </a:solidFill>
              </a:defRPr>
            </a:pPr>
            <a:r>
              <a:rPr sz="2850" b="0">
                <a:solidFill>
                  <a:srgbClr val="4D4D4D"/>
                </a:solidFill>
              </a:rPr>
              <a:t>[3] Lumley T. Analysis of complex survey samples. Journal of Statistical Software. 2004;9(8):1–19.</a:t>
            </a:r>
          </a:p>
        </p:txBody>
      </p:sp>
      <p:sp>
        <p:nvSpPr>
          <p:cNvPr id="95" name="prevalence">
            <a:extLst xmlns:a="http://schemas.openxmlformats.org/drawingml/2006/main">
              <a:ext uri="{FF2B5EF4-FFF2-40B4-BE49-F238E27FC236}">
                <a16:creationId xmlns:a16="http://schemas.microsoft.com/office/drawing/2014/main" id="{BBA73F44-8253-444C-BE01-72ED19EE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0382250"/>
            <a:ext cx="11887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600" b="0">
                <a:solidFill>
                  <a:srgbClr val="4D4D4D"/>
                </a:solidFill>
              </a:defRPr>
            </a:defPPr>
            <a:lvl1pPr algn="ctr">
              <a:defRPr sz="3600" b="0">
                <a:solidFill>
                  <a:srgbClr val="4D4D4D"/>
                </a:solidFill>
              </a:defRPr>
            </a:lvl1pPr>
            <a:lvl2pPr algn="ctr">
              <a:defRPr sz="3600" b="0">
                <a:solidFill>
                  <a:srgbClr val="4D4D4D"/>
                </a:solidFill>
              </a:defRPr>
            </a:lvl2pPr>
            <a:lvl3pPr algn="ctr">
              <a:defRPr sz="3600" b="0">
                <a:solidFill>
                  <a:srgbClr val="4D4D4D"/>
                </a:solidFill>
              </a:defRPr>
            </a:lvl3pPr>
            <a:lvl4pPr algn="ctr">
              <a:defRPr sz="3600" b="0">
                <a:solidFill>
                  <a:srgbClr val="4D4D4D"/>
                </a:solidFill>
              </a:defRPr>
            </a:lvl4pPr>
            <a:lvl5pPr algn="ctr">
              <a:defRPr sz="3600" b="0">
                <a:solidFill>
                  <a:srgbClr val="4D4D4D"/>
                </a:solidFill>
              </a:defRPr>
            </a:lvl5pPr>
            <a:lvl6pPr algn="ctr">
              <a:defRPr sz="3600" b="0">
                <a:solidFill>
                  <a:srgbClr val="4D4D4D"/>
                </a:solidFill>
              </a:defRPr>
            </a:lvl6pPr>
            <a:lvl7pPr algn="ctr">
              <a:defRPr sz="3600" b="0">
                <a:solidFill>
                  <a:srgbClr val="4D4D4D"/>
                </a:solidFill>
              </a:defRPr>
            </a:lvl7pPr>
            <a:lvl8pPr algn="ctr">
              <a:defRPr sz="3600" b="0">
                <a:solidFill>
                  <a:srgbClr val="4D4D4D"/>
                </a:solidFill>
              </a:defRPr>
            </a:lvl8pPr>
            <a:lvl9pPr algn="ctr">
              <a:defRPr sz="36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Had ≥1 live birth or were currently pregnant</a:t>
            </a:r>
          </a:p>
          <a:p xmlns:a="http://schemas.openxmlformats.org/drawingml/2006/main">
            <a:pPr algn="ctr"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95% CI 57.6–61.7%</a:t>
            </a:r>
          </a:p>
          <a:p xmlns:a="http://schemas.openxmlformats.org/drawingml/2006/main">
            <a:pPr algn="ctr">
              <a:defRPr sz="3600" b="0">
                <a:solidFill>
                  <a:srgbClr val="4D4D4D"/>
                </a:solidFill>
              </a:defRPr>
            </a:pPr>
            <a:r>
              <a:rPr sz="3600" b="0">
                <a:solidFill>
                  <a:srgbClr val="4D4D4D"/>
                </a:solidFill>
              </a:rPr>
              <a:t>Ever-married adolescents aged 15–19 (n = 2,449)</a:t>
            </a:r>
          </a:p>
        </p:txBody>
      </p:sp>
      <p:sp>
        <p:nvSpPr>
          <p:cNvPr id="96" name="forest-heading">
            <a:extLst xmlns:a="http://schemas.openxmlformats.org/drawingml/2006/main">
              <a:ext uri="{FF2B5EF4-FFF2-40B4-BE49-F238E27FC236}">
                <a16:creationId xmlns:a16="http://schemas.microsoft.com/office/drawing/2014/main" id="{DE4E9906-36DC-4A3A-9576-65B2DAAA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3335000"/>
            <a:ext cx="1188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1">
                <a:solidFill>
                  <a:srgbClr val="4D4D4D"/>
                </a:solidFill>
              </a:defRPr>
            </a:defPPr>
            <a:lvl1pPr algn="l">
              <a:defRPr sz="4050" b="1">
                <a:solidFill>
                  <a:srgbClr val="4D4D4D"/>
                </a:solidFill>
              </a:defRPr>
            </a:lvl1pPr>
            <a:lvl2pPr algn="l">
              <a:defRPr sz="4050" b="1">
                <a:solidFill>
                  <a:srgbClr val="4D4D4D"/>
                </a:solidFill>
              </a:defRPr>
            </a:lvl2pPr>
            <a:lvl3pPr algn="l">
              <a:defRPr sz="4050" b="1">
                <a:solidFill>
                  <a:srgbClr val="4D4D4D"/>
                </a:solidFill>
              </a:defRPr>
            </a:lvl3pPr>
            <a:lvl4pPr algn="l">
              <a:defRPr sz="4050" b="1">
                <a:solidFill>
                  <a:srgbClr val="4D4D4D"/>
                </a:solidFill>
              </a:defRPr>
            </a:lvl4pPr>
            <a:lvl5pPr algn="l">
              <a:defRPr sz="4050" b="1">
                <a:solidFill>
                  <a:srgbClr val="4D4D4D"/>
                </a:solidFill>
              </a:defRPr>
            </a:lvl5pPr>
            <a:lvl6pPr algn="l">
              <a:defRPr sz="4050" b="1">
                <a:solidFill>
                  <a:srgbClr val="4D4D4D"/>
                </a:solidFill>
              </a:defRPr>
            </a:lvl6pPr>
            <a:lvl7pPr algn="l">
              <a:defRPr sz="4050" b="1">
                <a:solidFill>
                  <a:srgbClr val="4D4D4D"/>
                </a:solidFill>
              </a:defRPr>
            </a:lvl7pPr>
            <a:lvl8pPr algn="l">
              <a:defRPr sz="4050" b="1">
                <a:solidFill>
                  <a:srgbClr val="4D4D4D"/>
                </a:solidFill>
              </a:defRPr>
            </a:lvl8pPr>
            <a:lvl9pPr algn="l">
              <a:defRPr sz="4050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4D4D4D"/>
                </a:solidFill>
              </a:defRPr>
            </a:pPr>
            <a:r>
              <a:rPr sz="4050" b="1">
                <a:solidFill>
                  <a:srgbClr val="4D4D4D"/>
                </a:solidFill>
              </a:rPr>
              <a:t>Selected adjusted odds ratios (n = 1,601)</a:t>
            </a:r>
          </a:p>
        </p:txBody>
      </p:sp>
      <p:sp>
        <p:nvSpPr>
          <p:cNvPr id="97" name="null-reference">
            <a:extLst xmlns:a="http://schemas.openxmlformats.org/drawingml/2006/main">
              <a:ext uri="{FF2B5EF4-FFF2-40B4-BE49-F238E27FC236}">
                <a16:creationId xmlns:a16="http://schemas.microsoft.com/office/drawing/2014/main" id="{98FDC6DF-AE18-4576-A217-538DBF23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0" y="15144750"/>
            <a:ext cx="0" cy="981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BBBBB"/>
            </a:solidFill>
            <a:prstDash val="solid"/>
          </a:ln>
        </p:spPr>
      </p:sp>
      <p:sp>
        <p:nvSpPr>
          <p:cNvPr id="98" name="contrast-0">
            <a:extLst xmlns:a="http://schemas.openxmlformats.org/drawingml/2006/main">
              <a:ext uri="{FF2B5EF4-FFF2-40B4-BE49-F238E27FC236}">
                <a16:creationId xmlns:a16="http://schemas.microsoft.com/office/drawing/2014/main" id="{10BA9F38-7953-42E1-8267-386FC6F5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4954250"/>
            <a:ext cx="1188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4D4D4D"/>
                </a:solidFill>
              </a:defRPr>
            </a:defPPr>
            <a:lvl1pPr algn="l">
              <a:defRPr sz="3225" b="1">
                <a:solidFill>
                  <a:srgbClr val="4D4D4D"/>
                </a:solidFill>
              </a:defRPr>
            </a:lvl1pPr>
            <a:lvl2pPr algn="l">
              <a:defRPr sz="3225" b="1">
                <a:solidFill>
                  <a:srgbClr val="4D4D4D"/>
                </a:solidFill>
              </a:defRPr>
            </a:lvl2pPr>
            <a:lvl3pPr algn="l">
              <a:defRPr sz="3225" b="1">
                <a:solidFill>
                  <a:srgbClr val="4D4D4D"/>
                </a:solidFill>
              </a:defRPr>
            </a:lvl3pPr>
            <a:lvl4pPr algn="l">
              <a:defRPr sz="3225" b="1">
                <a:solidFill>
                  <a:srgbClr val="4D4D4D"/>
                </a:solidFill>
              </a:defRPr>
            </a:lvl4pPr>
            <a:lvl5pPr algn="l">
              <a:defRPr sz="3225" b="1">
                <a:solidFill>
                  <a:srgbClr val="4D4D4D"/>
                </a:solidFill>
              </a:defRPr>
            </a:lvl5pPr>
            <a:lvl6pPr algn="l">
              <a:defRPr sz="3225" b="1">
                <a:solidFill>
                  <a:srgbClr val="4D4D4D"/>
                </a:solidFill>
              </a:defRPr>
            </a:lvl6pPr>
            <a:lvl7pPr algn="l">
              <a:defRPr sz="3225" b="1">
                <a:solidFill>
                  <a:srgbClr val="4D4D4D"/>
                </a:solidFill>
              </a:defRPr>
            </a:lvl7pPr>
            <a:lvl8pPr algn="l">
              <a:defRPr sz="3225" b="1">
                <a:solidFill>
                  <a:srgbClr val="4D4D4D"/>
                </a:solidFill>
              </a:defRPr>
            </a:lvl8pPr>
            <a:lvl9pPr algn="l">
              <a:defRPr sz="3225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4D4D4D"/>
                </a:solidFill>
              </a:defRPr>
            </a:pPr>
            <a:r>
              <a:rPr sz="3225" b="1">
                <a:solidFill>
                  <a:srgbClr val="4D4D4D"/>
                </a:solidFill>
              </a:rPr>
              <a:t>Cohabitation 15–17 vs &lt;15</a:t>
            </a:r>
          </a:p>
        </p:txBody>
      </p:sp>
      <p:sp>
        <p:nvSpPr>
          <p:cNvPr id="99" name="ci-0">
            <a:extLst xmlns:a="http://schemas.openxmlformats.org/drawingml/2006/main">
              <a:ext uri="{FF2B5EF4-FFF2-40B4-BE49-F238E27FC236}">
                <a16:creationId xmlns:a16="http://schemas.microsoft.com/office/drawing/2014/main" id="{A5BD98F6-7DFB-46C2-BF38-EA54E10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202" y="15906750"/>
            <a:ext cx="1488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B30822"/>
            </a:solidFill>
            <a:prstDash val="solid"/>
          </a:ln>
        </p:spPr>
      </p:sp>
      <p:sp>
        <p:nvSpPr>
          <p:cNvPr id="100" name="low-0">
            <a:extLst xmlns:a="http://schemas.openxmlformats.org/drawingml/2006/main">
              <a:ext uri="{FF2B5EF4-FFF2-40B4-BE49-F238E27FC236}">
                <a16:creationId xmlns:a16="http://schemas.microsoft.com/office/drawing/2014/main" id="{BA724FB4-7598-4311-AACD-B38C5CE0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202" y="157734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30822"/>
            </a:solidFill>
            <a:prstDash val="solid"/>
          </a:ln>
        </p:spPr>
      </p:sp>
      <p:sp>
        <p:nvSpPr>
          <p:cNvPr id="101" name="high-0">
            <a:extLst xmlns:a="http://schemas.openxmlformats.org/drawingml/2006/main">
              <a:ext uri="{FF2B5EF4-FFF2-40B4-BE49-F238E27FC236}">
                <a16:creationId xmlns:a16="http://schemas.microsoft.com/office/drawing/2014/main" id="{B1079173-34F6-44B6-B52F-BDE37A19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0684" y="157734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30822"/>
            </a:solidFill>
            <a:prstDash val="solid"/>
          </a:ln>
        </p:spPr>
      </p:sp>
      <p:sp>
        <p:nvSpPr>
          <p:cNvPr id="102" name="estimate-0">
            <a:extLst xmlns:a="http://schemas.openxmlformats.org/drawingml/2006/main">
              <a:ext uri="{FF2B5EF4-FFF2-40B4-BE49-F238E27FC236}">
                <a16:creationId xmlns:a16="http://schemas.microsoft.com/office/drawing/2014/main" id="{50225338-85D2-48BD-895D-80030ED7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1261" y="1579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0822"/>
          </a:solidFill>
          <a:ln xmlns:a="http://schemas.openxmlformats.org/drawingml/2006/main" w="9525">
            <a:solidFill>
              <a:srgbClr val="B30822"/>
            </a:solidFill>
            <a:prstDash val="solid"/>
          </a:ln>
        </p:spPr>
      </p:sp>
      <p:sp>
        <p:nvSpPr>
          <p:cNvPr id="103" name="estimate-label-0">
            <a:extLst xmlns:a="http://schemas.openxmlformats.org/drawingml/2006/main">
              <a:ext uri="{FF2B5EF4-FFF2-40B4-BE49-F238E27FC236}">
                <a16:creationId xmlns:a16="http://schemas.microsoft.com/office/drawing/2014/main" id="{7D1151CE-EEE8-48C8-80F4-C943FF7F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6192500"/>
            <a:ext cx="1188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700" b="0">
                <a:solidFill>
                  <a:srgbClr val="4D4D4D"/>
                </a:solidFill>
              </a:defRPr>
            </a:defPPr>
            <a:lvl1pPr algn="ctr">
              <a:defRPr sz="2700" b="0">
                <a:solidFill>
                  <a:srgbClr val="4D4D4D"/>
                </a:solidFill>
              </a:defRPr>
            </a:lvl1pPr>
            <a:lvl2pPr algn="ctr">
              <a:defRPr sz="2700" b="0">
                <a:solidFill>
                  <a:srgbClr val="4D4D4D"/>
                </a:solidFill>
              </a:defRPr>
            </a:lvl2pPr>
            <a:lvl3pPr algn="ctr">
              <a:defRPr sz="2700" b="0">
                <a:solidFill>
                  <a:srgbClr val="4D4D4D"/>
                </a:solidFill>
              </a:defRPr>
            </a:lvl3pPr>
            <a:lvl4pPr algn="ctr">
              <a:defRPr sz="2700" b="0">
                <a:solidFill>
                  <a:srgbClr val="4D4D4D"/>
                </a:solidFill>
              </a:defRPr>
            </a:lvl4pPr>
            <a:lvl5pPr algn="ctr">
              <a:defRPr sz="2700" b="0">
                <a:solidFill>
                  <a:srgbClr val="4D4D4D"/>
                </a:solidFill>
              </a:defRPr>
            </a:lvl5pPr>
            <a:lvl6pPr algn="ctr">
              <a:defRPr sz="2700" b="0">
                <a:solidFill>
                  <a:srgbClr val="4D4D4D"/>
                </a:solidFill>
              </a:defRPr>
            </a:lvl6pPr>
            <a:lvl7pPr algn="ctr">
              <a:defRPr sz="2700" b="0">
                <a:solidFill>
                  <a:srgbClr val="4D4D4D"/>
                </a:solidFill>
              </a:defRPr>
            </a:lvl7pPr>
            <a:lvl8pPr algn="ctr">
              <a:defRPr sz="2700" b="0">
                <a:solidFill>
                  <a:srgbClr val="4D4D4D"/>
                </a:solidFill>
              </a:defRPr>
            </a:lvl8pPr>
            <a:lvl9pPr algn="ctr">
              <a:defRPr sz="27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D4D4D"/>
                </a:solidFill>
              </a:defRPr>
            </a:pPr>
            <a:r>
              <a:rPr sz="2700" b="0">
                <a:solidFill>
                  <a:srgbClr val="4D4D4D"/>
                </a:solidFill>
              </a:rPr>
              <a:t>0.170 (0.113–0.256)</a:t>
            </a:r>
          </a:p>
        </p:txBody>
      </p:sp>
      <p:sp>
        <p:nvSpPr>
          <p:cNvPr id="104" name="contrast-1">
            <a:extLst xmlns:a="http://schemas.openxmlformats.org/drawingml/2006/main">
              <a:ext uri="{FF2B5EF4-FFF2-40B4-BE49-F238E27FC236}">
                <a16:creationId xmlns:a16="http://schemas.microsoft.com/office/drawing/2014/main" id="{4F49DFB1-CFBC-4CB8-815D-714E1DD2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6668750"/>
            <a:ext cx="1188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4D4D4D"/>
                </a:solidFill>
              </a:defRPr>
            </a:defPPr>
            <a:lvl1pPr algn="l">
              <a:defRPr sz="3225" b="1">
                <a:solidFill>
                  <a:srgbClr val="4D4D4D"/>
                </a:solidFill>
              </a:defRPr>
            </a:lvl1pPr>
            <a:lvl2pPr algn="l">
              <a:defRPr sz="3225" b="1">
                <a:solidFill>
                  <a:srgbClr val="4D4D4D"/>
                </a:solidFill>
              </a:defRPr>
            </a:lvl2pPr>
            <a:lvl3pPr algn="l">
              <a:defRPr sz="3225" b="1">
                <a:solidFill>
                  <a:srgbClr val="4D4D4D"/>
                </a:solidFill>
              </a:defRPr>
            </a:lvl3pPr>
            <a:lvl4pPr algn="l">
              <a:defRPr sz="3225" b="1">
                <a:solidFill>
                  <a:srgbClr val="4D4D4D"/>
                </a:solidFill>
              </a:defRPr>
            </a:lvl4pPr>
            <a:lvl5pPr algn="l">
              <a:defRPr sz="3225" b="1">
                <a:solidFill>
                  <a:srgbClr val="4D4D4D"/>
                </a:solidFill>
              </a:defRPr>
            </a:lvl5pPr>
            <a:lvl6pPr algn="l">
              <a:defRPr sz="3225" b="1">
                <a:solidFill>
                  <a:srgbClr val="4D4D4D"/>
                </a:solidFill>
              </a:defRPr>
            </a:lvl6pPr>
            <a:lvl7pPr algn="l">
              <a:defRPr sz="3225" b="1">
                <a:solidFill>
                  <a:srgbClr val="4D4D4D"/>
                </a:solidFill>
              </a:defRPr>
            </a:lvl7pPr>
            <a:lvl8pPr algn="l">
              <a:defRPr sz="3225" b="1">
                <a:solidFill>
                  <a:srgbClr val="4D4D4D"/>
                </a:solidFill>
              </a:defRPr>
            </a:lvl8pPr>
            <a:lvl9pPr algn="l">
              <a:defRPr sz="3225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4D4D4D"/>
                </a:solidFill>
              </a:defRPr>
            </a:pPr>
            <a:r>
              <a:rPr sz="3225" b="1">
                <a:solidFill>
                  <a:srgbClr val="4D4D4D"/>
                </a:solidFill>
              </a:rPr>
              <a:t>Cohabitation 18–19 vs &lt;15</a:t>
            </a:r>
          </a:p>
        </p:txBody>
      </p:sp>
      <p:sp>
        <p:nvSpPr>
          <p:cNvPr id="105" name="ci-1">
            <a:extLst xmlns:a="http://schemas.openxmlformats.org/drawingml/2006/main">
              <a:ext uri="{FF2B5EF4-FFF2-40B4-BE49-F238E27FC236}">
                <a16:creationId xmlns:a16="http://schemas.microsoft.com/office/drawing/2014/main" id="{6692750C-1B30-4CE3-B998-A1C339C1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748" y="17621250"/>
            <a:ext cx="19996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B30822"/>
            </a:solidFill>
            <a:prstDash val="solid"/>
          </a:ln>
        </p:spPr>
      </p:sp>
      <p:sp>
        <p:nvSpPr>
          <p:cNvPr id="106" name="low-1">
            <a:extLst xmlns:a="http://schemas.openxmlformats.org/drawingml/2006/main">
              <a:ext uri="{FF2B5EF4-FFF2-40B4-BE49-F238E27FC236}">
                <a16:creationId xmlns:a16="http://schemas.microsoft.com/office/drawing/2014/main" id="{0BEE89B2-592C-46DC-9ED9-1F9F4FCA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748" y="174879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30822"/>
            </a:solidFill>
            <a:prstDash val="solid"/>
          </a:ln>
        </p:spPr>
      </p:sp>
      <p:sp>
        <p:nvSpPr>
          <p:cNvPr id="107" name="high-1">
            <a:extLst xmlns:a="http://schemas.openxmlformats.org/drawingml/2006/main">
              <a:ext uri="{FF2B5EF4-FFF2-40B4-BE49-F238E27FC236}">
                <a16:creationId xmlns:a16="http://schemas.microsoft.com/office/drawing/2014/main" id="{0245CC63-D516-47E9-AACE-4EC1D4AE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6364" y="174879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30822"/>
            </a:solidFill>
            <a:prstDash val="solid"/>
          </a:ln>
        </p:spPr>
      </p:sp>
      <p:sp>
        <p:nvSpPr>
          <p:cNvPr id="108" name="estimate-1">
            <a:extLst xmlns:a="http://schemas.openxmlformats.org/drawingml/2006/main">
              <a:ext uri="{FF2B5EF4-FFF2-40B4-BE49-F238E27FC236}">
                <a16:creationId xmlns:a16="http://schemas.microsoft.com/office/drawing/2014/main" id="{DDE4A3F6-4460-493F-9281-9618AED2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3603" y="17506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0822"/>
          </a:solidFill>
          <a:ln xmlns:a="http://schemas.openxmlformats.org/drawingml/2006/main" w="9525">
            <a:solidFill>
              <a:srgbClr val="B30822"/>
            </a:solidFill>
            <a:prstDash val="solid"/>
          </a:ln>
        </p:spPr>
      </p:sp>
      <p:sp>
        <p:nvSpPr>
          <p:cNvPr id="109" name="estimate-label-1">
            <a:extLst xmlns:a="http://schemas.openxmlformats.org/drawingml/2006/main">
              <a:ext uri="{FF2B5EF4-FFF2-40B4-BE49-F238E27FC236}">
                <a16:creationId xmlns:a16="http://schemas.microsoft.com/office/drawing/2014/main" id="{C361FD19-C69A-45BC-AD6B-E667D79A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7907000"/>
            <a:ext cx="1188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700" b="0">
                <a:solidFill>
                  <a:srgbClr val="4D4D4D"/>
                </a:solidFill>
              </a:defRPr>
            </a:defPPr>
            <a:lvl1pPr algn="ctr">
              <a:defRPr sz="2700" b="0">
                <a:solidFill>
                  <a:srgbClr val="4D4D4D"/>
                </a:solidFill>
              </a:defRPr>
            </a:lvl1pPr>
            <a:lvl2pPr algn="ctr">
              <a:defRPr sz="2700" b="0">
                <a:solidFill>
                  <a:srgbClr val="4D4D4D"/>
                </a:solidFill>
              </a:defRPr>
            </a:lvl2pPr>
            <a:lvl3pPr algn="ctr">
              <a:defRPr sz="2700" b="0">
                <a:solidFill>
                  <a:srgbClr val="4D4D4D"/>
                </a:solidFill>
              </a:defRPr>
            </a:lvl3pPr>
            <a:lvl4pPr algn="ctr">
              <a:defRPr sz="2700" b="0">
                <a:solidFill>
                  <a:srgbClr val="4D4D4D"/>
                </a:solidFill>
              </a:defRPr>
            </a:lvl4pPr>
            <a:lvl5pPr algn="ctr">
              <a:defRPr sz="2700" b="0">
                <a:solidFill>
                  <a:srgbClr val="4D4D4D"/>
                </a:solidFill>
              </a:defRPr>
            </a:lvl5pPr>
            <a:lvl6pPr algn="ctr">
              <a:defRPr sz="2700" b="0">
                <a:solidFill>
                  <a:srgbClr val="4D4D4D"/>
                </a:solidFill>
              </a:defRPr>
            </a:lvl6pPr>
            <a:lvl7pPr algn="ctr">
              <a:defRPr sz="2700" b="0">
                <a:solidFill>
                  <a:srgbClr val="4D4D4D"/>
                </a:solidFill>
              </a:defRPr>
            </a:lvl7pPr>
            <a:lvl8pPr algn="ctr">
              <a:defRPr sz="2700" b="0">
                <a:solidFill>
                  <a:srgbClr val="4D4D4D"/>
                </a:solidFill>
              </a:defRPr>
            </a:lvl8pPr>
            <a:lvl9pPr algn="ctr">
              <a:defRPr sz="27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D4D4D"/>
                </a:solidFill>
              </a:defRPr>
            </a:pPr>
            <a:r>
              <a:rPr sz="2700" b="0">
                <a:solidFill>
                  <a:srgbClr val="4D4D4D"/>
                </a:solidFill>
              </a:rPr>
              <a:t>0.026 (0.015–0.045)</a:t>
            </a:r>
          </a:p>
        </p:txBody>
      </p:sp>
      <p:sp>
        <p:nvSpPr>
          <p:cNvPr id="110" name="contrast-2">
            <a:extLst xmlns:a="http://schemas.openxmlformats.org/drawingml/2006/main">
              <a:ext uri="{FF2B5EF4-FFF2-40B4-BE49-F238E27FC236}">
                <a16:creationId xmlns:a16="http://schemas.microsoft.com/office/drawing/2014/main" id="{64E757FB-C014-4929-ACC7-8CEA2467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8383250"/>
            <a:ext cx="1188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4D4D4D"/>
                </a:solidFill>
              </a:defRPr>
            </a:defPPr>
            <a:lvl1pPr algn="l">
              <a:defRPr sz="3225" b="1">
                <a:solidFill>
                  <a:srgbClr val="4D4D4D"/>
                </a:solidFill>
              </a:defRPr>
            </a:lvl1pPr>
            <a:lvl2pPr algn="l">
              <a:defRPr sz="3225" b="1">
                <a:solidFill>
                  <a:srgbClr val="4D4D4D"/>
                </a:solidFill>
              </a:defRPr>
            </a:lvl2pPr>
            <a:lvl3pPr algn="l">
              <a:defRPr sz="3225" b="1">
                <a:solidFill>
                  <a:srgbClr val="4D4D4D"/>
                </a:solidFill>
              </a:defRPr>
            </a:lvl3pPr>
            <a:lvl4pPr algn="l">
              <a:defRPr sz="3225" b="1">
                <a:solidFill>
                  <a:srgbClr val="4D4D4D"/>
                </a:solidFill>
              </a:defRPr>
            </a:lvl4pPr>
            <a:lvl5pPr algn="l">
              <a:defRPr sz="3225" b="1">
                <a:solidFill>
                  <a:srgbClr val="4D4D4D"/>
                </a:solidFill>
              </a:defRPr>
            </a:lvl5pPr>
            <a:lvl6pPr algn="l">
              <a:defRPr sz="3225" b="1">
                <a:solidFill>
                  <a:srgbClr val="4D4D4D"/>
                </a:solidFill>
              </a:defRPr>
            </a:lvl6pPr>
            <a:lvl7pPr algn="l">
              <a:defRPr sz="3225" b="1">
                <a:solidFill>
                  <a:srgbClr val="4D4D4D"/>
                </a:solidFill>
              </a:defRPr>
            </a:lvl7pPr>
            <a:lvl8pPr algn="l">
              <a:defRPr sz="3225" b="1">
                <a:solidFill>
                  <a:srgbClr val="4D4D4D"/>
                </a:solidFill>
              </a:defRPr>
            </a:lvl8pPr>
            <a:lvl9pPr algn="l">
              <a:defRPr sz="3225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4D4D4D"/>
                </a:solidFill>
              </a:defRPr>
            </a:pPr>
            <a:r>
              <a:rPr sz="3225" b="1">
                <a:solidFill>
                  <a:srgbClr val="4D4D4D"/>
                </a:solidFill>
              </a:rPr>
              <a:t>Spousal gap ≥11 vs ≤5 years</a:t>
            </a:r>
          </a:p>
        </p:txBody>
      </p:sp>
      <p:sp>
        <p:nvSpPr>
          <p:cNvPr id="111" name="ci-2">
            <a:extLst xmlns:a="http://schemas.openxmlformats.org/drawingml/2006/main">
              <a:ext uri="{FF2B5EF4-FFF2-40B4-BE49-F238E27FC236}">
                <a16:creationId xmlns:a16="http://schemas.microsoft.com/office/drawing/2014/main" id="{9859C631-2F0E-4DEA-823A-D16CF20D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3748" y="19335750"/>
            <a:ext cx="125574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B30822"/>
            </a:solidFill>
            <a:prstDash val="solid"/>
          </a:ln>
        </p:spPr>
      </p:sp>
      <p:sp>
        <p:nvSpPr>
          <p:cNvPr id="112" name="low-2">
            <a:extLst xmlns:a="http://schemas.openxmlformats.org/drawingml/2006/main">
              <a:ext uri="{FF2B5EF4-FFF2-40B4-BE49-F238E27FC236}">
                <a16:creationId xmlns:a16="http://schemas.microsoft.com/office/drawing/2014/main" id="{5C62A228-3BC8-4775-9AED-F6D28D16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3748" y="192024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30822"/>
            </a:solidFill>
            <a:prstDash val="solid"/>
          </a:ln>
        </p:spPr>
      </p:sp>
      <p:sp>
        <p:nvSpPr>
          <p:cNvPr id="113" name="high-2">
            <a:extLst xmlns:a="http://schemas.openxmlformats.org/drawingml/2006/main">
              <a:ext uri="{FF2B5EF4-FFF2-40B4-BE49-F238E27FC236}">
                <a16:creationId xmlns:a16="http://schemas.microsoft.com/office/drawing/2014/main" id="{CD13317F-57AA-42D7-B30A-1C082F4C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9488" y="192024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30822"/>
            </a:solidFill>
            <a:prstDash val="solid"/>
          </a:ln>
        </p:spPr>
      </p:sp>
      <p:sp>
        <p:nvSpPr>
          <p:cNvPr id="114" name="estimate-2">
            <a:extLst xmlns:a="http://schemas.openxmlformats.org/drawingml/2006/main">
              <a:ext uri="{FF2B5EF4-FFF2-40B4-BE49-F238E27FC236}">
                <a16:creationId xmlns:a16="http://schemas.microsoft.com/office/drawing/2014/main" id="{708D93FE-4D87-47B1-BA00-1A89D70B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7101" y="1922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0822"/>
          </a:solidFill>
          <a:ln xmlns:a="http://schemas.openxmlformats.org/drawingml/2006/main" w="9525">
            <a:solidFill>
              <a:srgbClr val="B30822"/>
            </a:solidFill>
            <a:prstDash val="solid"/>
          </a:ln>
        </p:spPr>
      </p:sp>
      <p:sp>
        <p:nvSpPr>
          <p:cNvPr id="115" name="estimate-label-2">
            <a:extLst xmlns:a="http://schemas.openxmlformats.org/drawingml/2006/main">
              <a:ext uri="{FF2B5EF4-FFF2-40B4-BE49-F238E27FC236}">
                <a16:creationId xmlns:a16="http://schemas.microsoft.com/office/drawing/2014/main" id="{1D6E9FEC-52C8-4176-A8E4-08CCF899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9621500"/>
            <a:ext cx="1188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700" b="0">
                <a:solidFill>
                  <a:srgbClr val="4D4D4D"/>
                </a:solidFill>
              </a:defRPr>
            </a:defPPr>
            <a:lvl1pPr algn="ctr">
              <a:defRPr sz="2700" b="0">
                <a:solidFill>
                  <a:srgbClr val="4D4D4D"/>
                </a:solidFill>
              </a:defRPr>
            </a:lvl1pPr>
            <a:lvl2pPr algn="ctr">
              <a:defRPr sz="2700" b="0">
                <a:solidFill>
                  <a:srgbClr val="4D4D4D"/>
                </a:solidFill>
              </a:defRPr>
            </a:lvl2pPr>
            <a:lvl3pPr algn="ctr">
              <a:defRPr sz="2700" b="0">
                <a:solidFill>
                  <a:srgbClr val="4D4D4D"/>
                </a:solidFill>
              </a:defRPr>
            </a:lvl3pPr>
            <a:lvl4pPr algn="ctr">
              <a:defRPr sz="2700" b="0">
                <a:solidFill>
                  <a:srgbClr val="4D4D4D"/>
                </a:solidFill>
              </a:defRPr>
            </a:lvl4pPr>
            <a:lvl5pPr algn="ctr">
              <a:defRPr sz="2700" b="0">
                <a:solidFill>
                  <a:srgbClr val="4D4D4D"/>
                </a:solidFill>
              </a:defRPr>
            </a:lvl5pPr>
            <a:lvl6pPr algn="ctr">
              <a:defRPr sz="2700" b="0">
                <a:solidFill>
                  <a:srgbClr val="4D4D4D"/>
                </a:solidFill>
              </a:defRPr>
            </a:lvl6pPr>
            <a:lvl7pPr algn="ctr">
              <a:defRPr sz="2700" b="0">
                <a:solidFill>
                  <a:srgbClr val="4D4D4D"/>
                </a:solidFill>
              </a:defRPr>
            </a:lvl7pPr>
            <a:lvl8pPr algn="ctr">
              <a:defRPr sz="2700" b="0">
                <a:solidFill>
                  <a:srgbClr val="4D4D4D"/>
                </a:solidFill>
              </a:defRPr>
            </a:lvl8pPr>
            <a:lvl9pPr algn="ctr">
              <a:defRPr sz="27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D4D4D"/>
                </a:solidFill>
              </a:defRPr>
            </a:pPr>
            <a:r>
              <a:rPr sz="2700" b="0">
                <a:solidFill>
                  <a:srgbClr val="4D4D4D"/>
                </a:solidFill>
              </a:rPr>
              <a:t>1.752 (1.241–2.474)</a:t>
            </a:r>
          </a:p>
        </p:txBody>
      </p:sp>
      <p:sp>
        <p:nvSpPr>
          <p:cNvPr id="116" name="contrast-3">
            <a:extLst xmlns:a="http://schemas.openxmlformats.org/drawingml/2006/main">
              <a:ext uri="{FF2B5EF4-FFF2-40B4-BE49-F238E27FC236}">
                <a16:creationId xmlns:a16="http://schemas.microsoft.com/office/drawing/2014/main" id="{D1B119E6-3B47-476E-84FB-8AA4D52E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0097750"/>
            <a:ext cx="1188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4D4D4D"/>
                </a:solidFill>
              </a:defRPr>
            </a:defPPr>
            <a:lvl1pPr algn="l">
              <a:defRPr sz="3225" b="1">
                <a:solidFill>
                  <a:srgbClr val="4D4D4D"/>
                </a:solidFill>
              </a:defRPr>
            </a:lvl1pPr>
            <a:lvl2pPr algn="l">
              <a:defRPr sz="3225" b="1">
                <a:solidFill>
                  <a:srgbClr val="4D4D4D"/>
                </a:solidFill>
              </a:defRPr>
            </a:lvl2pPr>
            <a:lvl3pPr algn="l">
              <a:defRPr sz="3225" b="1">
                <a:solidFill>
                  <a:srgbClr val="4D4D4D"/>
                </a:solidFill>
              </a:defRPr>
            </a:lvl3pPr>
            <a:lvl4pPr algn="l">
              <a:defRPr sz="3225" b="1">
                <a:solidFill>
                  <a:srgbClr val="4D4D4D"/>
                </a:solidFill>
              </a:defRPr>
            </a:lvl4pPr>
            <a:lvl5pPr algn="l">
              <a:defRPr sz="3225" b="1">
                <a:solidFill>
                  <a:srgbClr val="4D4D4D"/>
                </a:solidFill>
              </a:defRPr>
            </a:lvl5pPr>
            <a:lvl6pPr algn="l">
              <a:defRPr sz="3225" b="1">
                <a:solidFill>
                  <a:srgbClr val="4D4D4D"/>
                </a:solidFill>
              </a:defRPr>
            </a:lvl6pPr>
            <a:lvl7pPr algn="l">
              <a:defRPr sz="3225" b="1">
                <a:solidFill>
                  <a:srgbClr val="4D4D4D"/>
                </a:solidFill>
              </a:defRPr>
            </a:lvl7pPr>
            <a:lvl8pPr algn="l">
              <a:defRPr sz="3225" b="1">
                <a:solidFill>
                  <a:srgbClr val="4D4D4D"/>
                </a:solidFill>
              </a:defRPr>
            </a:lvl8pPr>
            <a:lvl9pPr algn="l">
              <a:defRPr sz="3225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4D4D4D"/>
                </a:solidFill>
              </a:defRPr>
            </a:pPr>
            <a:r>
              <a:rPr sz="3225" b="1">
                <a:solidFill>
                  <a:srgbClr val="4D4D4D"/>
                </a:solidFill>
              </a:rPr>
              <a:t>Husband higher education vs none</a:t>
            </a:r>
          </a:p>
        </p:txBody>
      </p:sp>
      <p:sp>
        <p:nvSpPr>
          <p:cNvPr id="117" name="ci-3">
            <a:extLst xmlns:a="http://schemas.openxmlformats.org/drawingml/2006/main">
              <a:ext uri="{FF2B5EF4-FFF2-40B4-BE49-F238E27FC236}">
                <a16:creationId xmlns:a16="http://schemas.microsoft.com/office/drawing/2014/main" id="{CA863B72-2295-409E-8EC3-62E79721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6440" y="21050250"/>
            <a:ext cx="21626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B30822"/>
            </a:solidFill>
            <a:prstDash val="solid"/>
          </a:ln>
        </p:spPr>
      </p:sp>
      <p:sp>
        <p:nvSpPr>
          <p:cNvPr id="118" name="low-3">
            <a:extLst xmlns:a="http://schemas.openxmlformats.org/drawingml/2006/main">
              <a:ext uri="{FF2B5EF4-FFF2-40B4-BE49-F238E27FC236}">
                <a16:creationId xmlns:a16="http://schemas.microsoft.com/office/drawing/2014/main" id="{A416B3A4-D121-48D2-8B10-9B6DE7EC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6440" y="209169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30822"/>
            </a:solidFill>
            <a:prstDash val="solid"/>
          </a:ln>
        </p:spPr>
      </p:sp>
      <p:sp>
        <p:nvSpPr>
          <p:cNvPr id="119" name="high-3">
            <a:extLst xmlns:a="http://schemas.openxmlformats.org/drawingml/2006/main">
              <a:ext uri="{FF2B5EF4-FFF2-40B4-BE49-F238E27FC236}">
                <a16:creationId xmlns:a16="http://schemas.microsoft.com/office/drawing/2014/main" id="{0348321F-9102-4FA3-BA48-9ACCA245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9058" y="209169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30822"/>
            </a:solidFill>
            <a:prstDash val="solid"/>
          </a:ln>
        </p:spPr>
      </p:sp>
      <p:sp>
        <p:nvSpPr>
          <p:cNvPr id="120" name="estimate-3">
            <a:extLst xmlns:a="http://schemas.openxmlformats.org/drawingml/2006/main">
              <a:ext uri="{FF2B5EF4-FFF2-40B4-BE49-F238E27FC236}">
                <a16:creationId xmlns:a16="http://schemas.microsoft.com/office/drawing/2014/main" id="{71276D40-D747-4351-9CF8-95D7786C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2725" y="20935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0822"/>
          </a:solidFill>
          <a:ln xmlns:a="http://schemas.openxmlformats.org/drawingml/2006/main" w="9525">
            <a:solidFill>
              <a:srgbClr val="B30822"/>
            </a:solidFill>
            <a:prstDash val="solid"/>
          </a:ln>
        </p:spPr>
      </p:sp>
      <p:sp>
        <p:nvSpPr>
          <p:cNvPr id="121" name="estimate-label-3">
            <a:extLst xmlns:a="http://schemas.openxmlformats.org/drawingml/2006/main">
              <a:ext uri="{FF2B5EF4-FFF2-40B4-BE49-F238E27FC236}">
                <a16:creationId xmlns:a16="http://schemas.microsoft.com/office/drawing/2014/main" id="{73E13DE1-D60B-4202-999D-D4A608DE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1336000"/>
            <a:ext cx="1188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700" b="0">
                <a:solidFill>
                  <a:srgbClr val="4D4D4D"/>
                </a:solidFill>
              </a:defRPr>
            </a:defPPr>
            <a:lvl1pPr algn="ctr">
              <a:defRPr sz="2700" b="0">
                <a:solidFill>
                  <a:srgbClr val="4D4D4D"/>
                </a:solidFill>
              </a:defRPr>
            </a:lvl1pPr>
            <a:lvl2pPr algn="ctr">
              <a:defRPr sz="2700" b="0">
                <a:solidFill>
                  <a:srgbClr val="4D4D4D"/>
                </a:solidFill>
              </a:defRPr>
            </a:lvl2pPr>
            <a:lvl3pPr algn="ctr">
              <a:defRPr sz="2700" b="0">
                <a:solidFill>
                  <a:srgbClr val="4D4D4D"/>
                </a:solidFill>
              </a:defRPr>
            </a:lvl3pPr>
            <a:lvl4pPr algn="ctr">
              <a:defRPr sz="2700" b="0">
                <a:solidFill>
                  <a:srgbClr val="4D4D4D"/>
                </a:solidFill>
              </a:defRPr>
            </a:lvl4pPr>
            <a:lvl5pPr algn="ctr">
              <a:defRPr sz="2700" b="0">
                <a:solidFill>
                  <a:srgbClr val="4D4D4D"/>
                </a:solidFill>
              </a:defRPr>
            </a:lvl5pPr>
            <a:lvl6pPr algn="ctr">
              <a:defRPr sz="2700" b="0">
                <a:solidFill>
                  <a:srgbClr val="4D4D4D"/>
                </a:solidFill>
              </a:defRPr>
            </a:lvl6pPr>
            <a:lvl7pPr algn="ctr">
              <a:defRPr sz="2700" b="0">
                <a:solidFill>
                  <a:srgbClr val="4D4D4D"/>
                </a:solidFill>
              </a:defRPr>
            </a:lvl7pPr>
            <a:lvl8pPr algn="ctr">
              <a:defRPr sz="2700" b="0">
                <a:solidFill>
                  <a:srgbClr val="4D4D4D"/>
                </a:solidFill>
              </a:defRPr>
            </a:lvl8pPr>
            <a:lvl9pPr algn="ctr">
              <a:defRPr sz="27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D4D4D"/>
                </a:solidFill>
              </a:defRPr>
            </a:pPr>
            <a:r>
              <a:rPr sz="2700" b="0">
                <a:solidFill>
                  <a:srgbClr val="4D4D4D"/>
                </a:solidFill>
              </a:rPr>
              <a:t>0.612 (0.338–1.109)</a:t>
            </a:r>
          </a:p>
        </p:txBody>
      </p:sp>
      <p:sp>
        <p:nvSpPr>
          <p:cNvPr id="122" name="contrast-4">
            <a:extLst xmlns:a="http://schemas.openxmlformats.org/drawingml/2006/main">
              <a:ext uri="{FF2B5EF4-FFF2-40B4-BE49-F238E27FC236}">
                <a16:creationId xmlns:a16="http://schemas.microsoft.com/office/drawing/2014/main" id="{DF35700F-1452-46AC-97D9-4B7A37AE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1812250"/>
            <a:ext cx="1188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4D4D4D"/>
                </a:solidFill>
              </a:defRPr>
            </a:defPPr>
            <a:lvl1pPr algn="l">
              <a:defRPr sz="3225" b="1">
                <a:solidFill>
                  <a:srgbClr val="4D4D4D"/>
                </a:solidFill>
              </a:defRPr>
            </a:lvl1pPr>
            <a:lvl2pPr algn="l">
              <a:defRPr sz="3225" b="1">
                <a:solidFill>
                  <a:srgbClr val="4D4D4D"/>
                </a:solidFill>
              </a:defRPr>
            </a:lvl2pPr>
            <a:lvl3pPr algn="l">
              <a:defRPr sz="3225" b="1">
                <a:solidFill>
                  <a:srgbClr val="4D4D4D"/>
                </a:solidFill>
              </a:defRPr>
            </a:lvl3pPr>
            <a:lvl4pPr algn="l">
              <a:defRPr sz="3225" b="1">
                <a:solidFill>
                  <a:srgbClr val="4D4D4D"/>
                </a:solidFill>
              </a:defRPr>
            </a:lvl4pPr>
            <a:lvl5pPr algn="l">
              <a:defRPr sz="3225" b="1">
                <a:solidFill>
                  <a:srgbClr val="4D4D4D"/>
                </a:solidFill>
              </a:defRPr>
            </a:lvl5pPr>
            <a:lvl6pPr algn="l">
              <a:defRPr sz="3225" b="1">
                <a:solidFill>
                  <a:srgbClr val="4D4D4D"/>
                </a:solidFill>
              </a:defRPr>
            </a:lvl6pPr>
            <a:lvl7pPr algn="l">
              <a:defRPr sz="3225" b="1">
                <a:solidFill>
                  <a:srgbClr val="4D4D4D"/>
                </a:solidFill>
              </a:defRPr>
            </a:lvl7pPr>
            <a:lvl8pPr algn="l">
              <a:defRPr sz="3225" b="1">
                <a:solidFill>
                  <a:srgbClr val="4D4D4D"/>
                </a:solidFill>
              </a:defRPr>
            </a:lvl8pPr>
            <a:lvl9pPr algn="l">
              <a:defRPr sz="3225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4D4D4D"/>
                </a:solidFill>
              </a:defRPr>
            </a:pPr>
            <a:r>
              <a:rPr sz="3225" b="1">
                <a:solidFill>
                  <a:srgbClr val="4D4D4D"/>
                </a:solidFill>
              </a:rPr>
              <a:t>Richer vs poorest household</a:t>
            </a:r>
          </a:p>
        </p:txBody>
      </p:sp>
      <p:sp>
        <p:nvSpPr>
          <p:cNvPr id="123" name="ci-4">
            <a:extLst xmlns:a="http://schemas.openxmlformats.org/drawingml/2006/main">
              <a:ext uri="{FF2B5EF4-FFF2-40B4-BE49-F238E27FC236}">
                <a16:creationId xmlns:a16="http://schemas.microsoft.com/office/drawing/2014/main" id="{F1FE53B5-0921-4C86-8D40-FFD6A726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9027" y="22764750"/>
            <a:ext cx="159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B30822"/>
            </a:solidFill>
            <a:prstDash val="solid"/>
          </a:ln>
        </p:spPr>
      </p:sp>
      <p:sp>
        <p:nvSpPr>
          <p:cNvPr id="124" name="low-4">
            <a:extLst xmlns:a="http://schemas.openxmlformats.org/drawingml/2006/main">
              <a:ext uri="{FF2B5EF4-FFF2-40B4-BE49-F238E27FC236}">
                <a16:creationId xmlns:a16="http://schemas.microsoft.com/office/drawing/2014/main" id="{7A6D247F-38CC-4BFB-B756-98D72611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9027" y="226314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30822"/>
            </a:solidFill>
            <a:prstDash val="solid"/>
          </a:ln>
        </p:spPr>
      </p:sp>
      <p:sp>
        <p:nvSpPr>
          <p:cNvPr id="125" name="high-4">
            <a:extLst xmlns:a="http://schemas.openxmlformats.org/drawingml/2006/main">
              <a:ext uri="{FF2B5EF4-FFF2-40B4-BE49-F238E27FC236}">
                <a16:creationId xmlns:a16="http://schemas.microsoft.com/office/drawing/2014/main" id="{4CA0981E-C531-4584-A2C8-13AC18FC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3978" y="226314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30822"/>
            </a:solidFill>
            <a:prstDash val="solid"/>
          </a:ln>
        </p:spPr>
      </p:sp>
      <p:sp>
        <p:nvSpPr>
          <p:cNvPr id="126" name="estimate-4">
            <a:extLst xmlns:a="http://schemas.openxmlformats.org/drawingml/2006/main">
              <a:ext uri="{FF2B5EF4-FFF2-40B4-BE49-F238E27FC236}">
                <a16:creationId xmlns:a16="http://schemas.microsoft.com/office/drawing/2014/main" id="{FE0FA75A-53CA-4B8E-B0D9-45E50F2A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133" y="22650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0822"/>
          </a:solidFill>
          <a:ln xmlns:a="http://schemas.openxmlformats.org/drawingml/2006/main" w="9525">
            <a:solidFill>
              <a:srgbClr val="B30822"/>
            </a:solidFill>
            <a:prstDash val="solid"/>
          </a:ln>
        </p:spPr>
      </p:sp>
      <p:sp>
        <p:nvSpPr>
          <p:cNvPr id="127" name="estimate-label-4">
            <a:extLst xmlns:a="http://schemas.openxmlformats.org/drawingml/2006/main">
              <a:ext uri="{FF2B5EF4-FFF2-40B4-BE49-F238E27FC236}">
                <a16:creationId xmlns:a16="http://schemas.microsoft.com/office/drawing/2014/main" id="{BFAF598B-4833-4A13-A7AE-78B7120F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3050500"/>
            <a:ext cx="1188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700" b="0">
                <a:solidFill>
                  <a:srgbClr val="4D4D4D"/>
                </a:solidFill>
              </a:defRPr>
            </a:defPPr>
            <a:lvl1pPr algn="ctr">
              <a:defRPr sz="2700" b="0">
                <a:solidFill>
                  <a:srgbClr val="4D4D4D"/>
                </a:solidFill>
              </a:defRPr>
            </a:lvl1pPr>
            <a:lvl2pPr algn="ctr">
              <a:defRPr sz="2700" b="0">
                <a:solidFill>
                  <a:srgbClr val="4D4D4D"/>
                </a:solidFill>
              </a:defRPr>
            </a:lvl2pPr>
            <a:lvl3pPr algn="ctr">
              <a:defRPr sz="2700" b="0">
                <a:solidFill>
                  <a:srgbClr val="4D4D4D"/>
                </a:solidFill>
              </a:defRPr>
            </a:lvl3pPr>
            <a:lvl4pPr algn="ctr">
              <a:defRPr sz="2700" b="0">
                <a:solidFill>
                  <a:srgbClr val="4D4D4D"/>
                </a:solidFill>
              </a:defRPr>
            </a:lvl4pPr>
            <a:lvl5pPr algn="ctr">
              <a:defRPr sz="2700" b="0">
                <a:solidFill>
                  <a:srgbClr val="4D4D4D"/>
                </a:solidFill>
              </a:defRPr>
            </a:lvl5pPr>
            <a:lvl6pPr algn="ctr">
              <a:defRPr sz="2700" b="0">
                <a:solidFill>
                  <a:srgbClr val="4D4D4D"/>
                </a:solidFill>
              </a:defRPr>
            </a:lvl6pPr>
            <a:lvl7pPr algn="ctr">
              <a:defRPr sz="2700" b="0">
                <a:solidFill>
                  <a:srgbClr val="4D4D4D"/>
                </a:solidFill>
              </a:defRPr>
            </a:lvl7pPr>
            <a:lvl8pPr algn="ctr">
              <a:defRPr sz="2700" b="0">
                <a:solidFill>
                  <a:srgbClr val="4D4D4D"/>
                </a:solidFill>
              </a:defRPr>
            </a:lvl8pPr>
            <a:lvl9pPr algn="ctr">
              <a:defRPr sz="27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D4D4D"/>
                </a:solidFill>
              </a:defRPr>
            </a:pPr>
            <a:r>
              <a:rPr sz="2700" b="0">
                <a:solidFill>
                  <a:srgbClr val="4D4D4D"/>
                </a:solidFill>
              </a:rPr>
              <a:t>0.633 (0.408–0.980)</a:t>
            </a:r>
          </a:p>
        </p:txBody>
      </p:sp>
      <p:sp>
        <p:nvSpPr>
          <p:cNvPr id="128" name="contrast-5">
            <a:extLst xmlns:a="http://schemas.openxmlformats.org/drawingml/2006/main">
              <a:ext uri="{FF2B5EF4-FFF2-40B4-BE49-F238E27FC236}">
                <a16:creationId xmlns:a16="http://schemas.microsoft.com/office/drawing/2014/main" id="{267B2171-B037-4A64-B7C6-C751E5A3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3526750"/>
            <a:ext cx="1188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1">
                <a:solidFill>
                  <a:srgbClr val="4D4D4D"/>
                </a:solidFill>
              </a:defRPr>
            </a:defPPr>
            <a:lvl1pPr algn="l">
              <a:defRPr sz="3225" b="1">
                <a:solidFill>
                  <a:srgbClr val="4D4D4D"/>
                </a:solidFill>
              </a:defRPr>
            </a:lvl1pPr>
            <a:lvl2pPr algn="l">
              <a:defRPr sz="3225" b="1">
                <a:solidFill>
                  <a:srgbClr val="4D4D4D"/>
                </a:solidFill>
              </a:defRPr>
            </a:lvl2pPr>
            <a:lvl3pPr algn="l">
              <a:defRPr sz="3225" b="1">
                <a:solidFill>
                  <a:srgbClr val="4D4D4D"/>
                </a:solidFill>
              </a:defRPr>
            </a:lvl3pPr>
            <a:lvl4pPr algn="l">
              <a:defRPr sz="3225" b="1">
                <a:solidFill>
                  <a:srgbClr val="4D4D4D"/>
                </a:solidFill>
              </a:defRPr>
            </a:lvl4pPr>
            <a:lvl5pPr algn="l">
              <a:defRPr sz="3225" b="1">
                <a:solidFill>
                  <a:srgbClr val="4D4D4D"/>
                </a:solidFill>
              </a:defRPr>
            </a:lvl5pPr>
            <a:lvl6pPr algn="l">
              <a:defRPr sz="3225" b="1">
                <a:solidFill>
                  <a:srgbClr val="4D4D4D"/>
                </a:solidFill>
              </a:defRPr>
            </a:lvl6pPr>
            <a:lvl7pPr algn="l">
              <a:defRPr sz="3225" b="1">
                <a:solidFill>
                  <a:srgbClr val="4D4D4D"/>
                </a:solidFill>
              </a:defRPr>
            </a:lvl7pPr>
            <a:lvl8pPr algn="l">
              <a:defRPr sz="3225" b="1">
                <a:solidFill>
                  <a:srgbClr val="4D4D4D"/>
                </a:solidFill>
              </a:defRPr>
            </a:lvl8pPr>
            <a:lvl9pPr algn="l">
              <a:defRPr sz="3225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4D4D4D"/>
                </a:solidFill>
              </a:defRPr>
            </a:pPr>
            <a:r>
              <a:rPr sz="3225" b="1">
                <a:solidFill>
                  <a:srgbClr val="4D4D4D"/>
                </a:solidFill>
              </a:rPr>
              <a:t>Richest vs poorest household</a:t>
            </a:r>
          </a:p>
        </p:txBody>
      </p:sp>
      <p:sp>
        <p:nvSpPr>
          <p:cNvPr id="129" name="ci-5">
            <a:extLst xmlns:a="http://schemas.openxmlformats.org/drawingml/2006/main">
              <a:ext uri="{FF2B5EF4-FFF2-40B4-BE49-F238E27FC236}">
                <a16:creationId xmlns:a16="http://schemas.microsoft.com/office/drawing/2014/main" id="{7D349A97-DAD7-416C-82B8-7430AB85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984" y="24479250"/>
            <a:ext cx="17919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B30822"/>
            </a:solidFill>
            <a:prstDash val="solid"/>
          </a:ln>
        </p:spPr>
      </p:sp>
      <p:sp>
        <p:nvSpPr>
          <p:cNvPr id="130" name="low-5">
            <a:extLst xmlns:a="http://schemas.openxmlformats.org/drawingml/2006/main">
              <a:ext uri="{FF2B5EF4-FFF2-40B4-BE49-F238E27FC236}">
                <a16:creationId xmlns:a16="http://schemas.microsoft.com/office/drawing/2014/main" id="{F4533BD6-96D4-4234-AEBA-7D8C516B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984" y="243459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30822"/>
            </a:solidFill>
            <a:prstDash val="solid"/>
          </a:ln>
        </p:spPr>
      </p:sp>
      <p:sp>
        <p:nvSpPr>
          <p:cNvPr id="131" name="high-5">
            <a:extLst xmlns:a="http://schemas.openxmlformats.org/drawingml/2006/main">
              <a:ext uri="{FF2B5EF4-FFF2-40B4-BE49-F238E27FC236}">
                <a16:creationId xmlns:a16="http://schemas.microsoft.com/office/drawing/2014/main" id="{675C2563-476B-4107-B5C6-03687061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898" y="243459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30822"/>
            </a:solidFill>
            <a:prstDash val="solid"/>
          </a:ln>
        </p:spPr>
      </p:sp>
      <p:sp>
        <p:nvSpPr>
          <p:cNvPr id="132" name="estimate-5">
            <a:extLst xmlns:a="http://schemas.openxmlformats.org/drawingml/2006/main">
              <a:ext uri="{FF2B5EF4-FFF2-40B4-BE49-F238E27FC236}">
                <a16:creationId xmlns:a16="http://schemas.microsoft.com/office/drawing/2014/main" id="{2CE9135E-4275-4FD0-9AEE-0DEC1825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2602" y="24364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0822"/>
          </a:solidFill>
          <a:ln xmlns:a="http://schemas.openxmlformats.org/drawingml/2006/main" w="9525">
            <a:solidFill>
              <a:srgbClr val="B30822"/>
            </a:solidFill>
            <a:prstDash val="solid"/>
          </a:ln>
        </p:spPr>
      </p:sp>
      <p:sp>
        <p:nvSpPr>
          <p:cNvPr id="133" name="estimate-label-5">
            <a:extLst xmlns:a="http://schemas.openxmlformats.org/drawingml/2006/main">
              <a:ext uri="{FF2B5EF4-FFF2-40B4-BE49-F238E27FC236}">
                <a16:creationId xmlns:a16="http://schemas.microsoft.com/office/drawing/2014/main" id="{1F159891-D632-465D-8838-2651BB97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4765000"/>
            <a:ext cx="1188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700" b="0">
                <a:solidFill>
                  <a:srgbClr val="4D4D4D"/>
                </a:solidFill>
              </a:defRPr>
            </a:defPPr>
            <a:lvl1pPr algn="ctr">
              <a:defRPr sz="2700" b="0">
                <a:solidFill>
                  <a:srgbClr val="4D4D4D"/>
                </a:solidFill>
              </a:defRPr>
            </a:lvl1pPr>
            <a:lvl2pPr algn="ctr">
              <a:defRPr sz="2700" b="0">
                <a:solidFill>
                  <a:srgbClr val="4D4D4D"/>
                </a:solidFill>
              </a:defRPr>
            </a:lvl2pPr>
            <a:lvl3pPr algn="ctr">
              <a:defRPr sz="2700" b="0">
                <a:solidFill>
                  <a:srgbClr val="4D4D4D"/>
                </a:solidFill>
              </a:defRPr>
            </a:lvl3pPr>
            <a:lvl4pPr algn="ctr">
              <a:defRPr sz="2700" b="0">
                <a:solidFill>
                  <a:srgbClr val="4D4D4D"/>
                </a:solidFill>
              </a:defRPr>
            </a:lvl4pPr>
            <a:lvl5pPr algn="ctr">
              <a:defRPr sz="2700" b="0">
                <a:solidFill>
                  <a:srgbClr val="4D4D4D"/>
                </a:solidFill>
              </a:defRPr>
            </a:lvl5pPr>
            <a:lvl6pPr algn="ctr">
              <a:defRPr sz="2700" b="0">
                <a:solidFill>
                  <a:srgbClr val="4D4D4D"/>
                </a:solidFill>
              </a:defRPr>
            </a:lvl6pPr>
            <a:lvl7pPr algn="ctr">
              <a:defRPr sz="2700" b="0">
                <a:solidFill>
                  <a:srgbClr val="4D4D4D"/>
                </a:solidFill>
              </a:defRPr>
            </a:lvl7pPr>
            <a:lvl8pPr algn="ctr">
              <a:defRPr sz="2700" b="0">
                <a:solidFill>
                  <a:srgbClr val="4D4D4D"/>
                </a:solidFill>
              </a:defRPr>
            </a:lvl8pPr>
            <a:lvl9pPr algn="ctr">
              <a:defRPr sz="27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D4D4D"/>
                </a:solidFill>
              </a:defRPr>
            </a:pPr>
            <a:r>
              <a:rPr sz="2700" b="0">
                <a:solidFill>
                  <a:srgbClr val="4D4D4D"/>
                </a:solidFill>
              </a:rPr>
              <a:t>0.390 (0.238–0.637)</a:t>
            </a:r>
          </a:p>
        </p:txBody>
      </p:sp>
      <p:sp>
        <p:nvSpPr>
          <p:cNvPr id="134" name="axis">
            <a:extLst xmlns:a="http://schemas.openxmlformats.org/drawingml/2006/main">
              <a:ext uri="{FF2B5EF4-FFF2-40B4-BE49-F238E27FC236}">
                <a16:creationId xmlns:a16="http://schemas.microsoft.com/office/drawing/2014/main" id="{1770AA46-8C83-4FC3-BEB2-F1CBB142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253365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6666"/>
            </a:solidFill>
            <a:prstDash val="solid"/>
          </a:ln>
        </p:spPr>
      </p:sp>
      <p:sp>
        <p:nvSpPr>
          <p:cNvPr id="135" name="tick-0.01">
            <a:extLst xmlns:a="http://schemas.openxmlformats.org/drawingml/2006/main">
              <a:ext uri="{FF2B5EF4-FFF2-40B4-BE49-F238E27FC236}">
                <a16:creationId xmlns:a16="http://schemas.microsoft.com/office/drawing/2014/main" id="{F3B8AB01-9441-4893-A710-AB3EC845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2533650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6666"/>
            </a:solidFill>
            <a:prstDash val="solid"/>
          </a:ln>
        </p:spPr>
      </p:sp>
      <p:sp>
        <p:nvSpPr>
          <p:cNvPr id="136" name="ticklabel-0.01">
            <a:extLst xmlns:a="http://schemas.openxmlformats.org/drawingml/2006/main">
              <a:ext uri="{FF2B5EF4-FFF2-40B4-BE49-F238E27FC236}">
                <a16:creationId xmlns:a16="http://schemas.microsoft.com/office/drawing/2014/main" id="{DABFBF1C-D018-4C1A-A103-8E4F1256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25622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700" b="0">
                <a:solidFill>
                  <a:srgbClr val="4D4D4D"/>
                </a:solidFill>
              </a:defRPr>
            </a:defPPr>
            <a:lvl1pPr algn="ctr">
              <a:defRPr sz="2700" b="0">
                <a:solidFill>
                  <a:srgbClr val="4D4D4D"/>
                </a:solidFill>
              </a:defRPr>
            </a:lvl1pPr>
            <a:lvl2pPr algn="ctr">
              <a:defRPr sz="2700" b="0">
                <a:solidFill>
                  <a:srgbClr val="4D4D4D"/>
                </a:solidFill>
              </a:defRPr>
            </a:lvl2pPr>
            <a:lvl3pPr algn="ctr">
              <a:defRPr sz="2700" b="0">
                <a:solidFill>
                  <a:srgbClr val="4D4D4D"/>
                </a:solidFill>
              </a:defRPr>
            </a:lvl3pPr>
            <a:lvl4pPr algn="ctr">
              <a:defRPr sz="2700" b="0">
                <a:solidFill>
                  <a:srgbClr val="4D4D4D"/>
                </a:solidFill>
              </a:defRPr>
            </a:lvl4pPr>
            <a:lvl5pPr algn="ctr">
              <a:defRPr sz="2700" b="0">
                <a:solidFill>
                  <a:srgbClr val="4D4D4D"/>
                </a:solidFill>
              </a:defRPr>
            </a:lvl5pPr>
            <a:lvl6pPr algn="ctr">
              <a:defRPr sz="2700" b="0">
                <a:solidFill>
                  <a:srgbClr val="4D4D4D"/>
                </a:solidFill>
              </a:defRPr>
            </a:lvl6pPr>
            <a:lvl7pPr algn="ctr">
              <a:defRPr sz="2700" b="0">
                <a:solidFill>
                  <a:srgbClr val="4D4D4D"/>
                </a:solidFill>
              </a:defRPr>
            </a:lvl7pPr>
            <a:lvl8pPr algn="ctr">
              <a:defRPr sz="2700" b="0">
                <a:solidFill>
                  <a:srgbClr val="4D4D4D"/>
                </a:solidFill>
              </a:defRPr>
            </a:lvl8pPr>
            <a:lvl9pPr algn="ctr">
              <a:defRPr sz="27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D4D4D"/>
                </a:solidFill>
              </a:defRPr>
            </a:pPr>
            <a:r>
              <a:rPr sz="2700" b="0">
                <a:solidFill>
                  <a:srgbClr val="4D4D4D"/>
                </a:solidFill>
              </a:rPr>
              <a:t>0.01</a:t>
            </a:r>
          </a:p>
        </p:txBody>
      </p:sp>
      <p:sp>
        <p:nvSpPr>
          <p:cNvPr id="137" name="tick-0.03">
            <a:extLst xmlns:a="http://schemas.openxmlformats.org/drawingml/2006/main">
              <a:ext uri="{FF2B5EF4-FFF2-40B4-BE49-F238E27FC236}">
                <a16:creationId xmlns:a16="http://schemas.microsoft.com/office/drawing/2014/main" id="{43B339E1-8CC0-4A11-8EE9-4BDD8BA3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8365" y="2533650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6666"/>
            </a:solidFill>
            <a:prstDash val="solid"/>
          </a:ln>
        </p:spPr>
      </p:sp>
      <p:sp>
        <p:nvSpPr>
          <p:cNvPr id="138" name="ticklabel-0.03">
            <a:extLst xmlns:a="http://schemas.openxmlformats.org/drawingml/2006/main">
              <a:ext uri="{FF2B5EF4-FFF2-40B4-BE49-F238E27FC236}">
                <a16:creationId xmlns:a16="http://schemas.microsoft.com/office/drawing/2014/main" id="{6B9C6D0F-7C96-42B4-A46D-44135C2D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240" y="25622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700" b="0">
                <a:solidFill>
                  <a:srgbClr val="4D4D4D"/>
                </a:solidFill>
              </a:defRPr>
            </a:defPPr>
            <a:lvl1pPr algn="ctr">
              <a:defRPr sz="2700" b="0">
                <a:solidFill>
                  <a:srgbClr val="4D4D4D"/>
                </a:solidFill>
              </a:defRPr>
            </a:lvl1pPr>
            <a:lvl2pPr algn="ctr">
              <a:defRPr sz="2700" b="0">
                <a:solidFill>
                  <a:srgbClr val="4D4D4D"/>
                </a:solidFill>
              </a:defRPr>
            </a:lvl2pPr>
            <a:lvl3pPr algn="ctr">
              <a:defRPr sz="2700" b="0">
                <a:solidFill>
                  <a:srgbClr val="4D4D4D"/>
                </a:solidFill>
              </a:defRPr>
            </a:lvl3pPr>
            <a:lvl4pPr algn="ctr">
              <a:defRPr sz="2700" b="0">
                <a:solidFill>
                  <a:srgbClr val="4D4D4D"/>
                </a:solidFill>
              </a:defRPr>
            </a:lvl4pPr>
            <a:lvl5pPr algn="ctr">
              <a:defRPr sz="2700" b="0">
                <a:solidFill>
                  <a:srgbClr val="4D4D4D"/>
                </a:solidFill>
              </a:defRPr>
            </a:lvl5pPr>
            <a:lvl6pPr algn="ctr">
              <a:defRPr sz="2700" b="0">
                <a:solidFill>
                  <a:srgbClr val="4D4D4D"/>
                </a:solidFill>
              </a:defRPr>
            </a:lvl6pPr>
            <a:lvl7pPr algn="ctr">
              <a:defRPr sz="2700" b="0">
                <a:solidFill>
                  <a:srgbClr val="4D4D4D"/>
                </a:solidFill>
              </a:defRPr>
            </a:lvl7pPr>
            <a:lvl8pPr algn="ctr">
              <a:defRPr sz="2700" b="0">
                <a:solidFill>
                  <a:srgbClr val="4D4D4D"/>
                </a:solidFill>
              </a:defRPr>
            </a:lvl8pPr>
            <a:lvl9pPr algn="ctr">
              <a:defRPr sz="27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D4D4D"/>
                </a:solidFill>
              </a:defRPr>
            </a:pPr>
            <a:r>
              <a:rPr sz="2700" b="0">
                <a:solidFill>
                  <a:srgbClr val="4D4D4D"/>
                </a:solidFill>
              </a:rPr>
              <a:t>0.03</a:t>
            </a:r>
          </a:p>
        </p:txBody>
      </p:sp>
      <p:sp>
        <p:nvSpPr>
          <p:cNvPr id="139" name="tick-0.1">
            <a:extLst xmlns:a="http://schemas.openxmlformats.org/drawingml/2006/main">
              <a:ext uri="{FF2B5EF4-FFF2-40B4-BE49-F238E27FC236}">
                <a16:creationId xmlns:a16="http://schemas.microsoft.com/office/drawing/2014/main" id="{582354D7-311C-40E8-BAA4-D753F21D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0" y="2533650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6666"/>
            </a:solidFill>
            <a:prstDash val="solid"/>
          </a:ln>
        </p:spPr>
      </p:sp>
      <p:sp>
        <p:nvSpPr>
          <p:cNvPr id="140" name="ticklabel-0.1">
            <a:extLst xmlns:a="http://schemas.openxmlformats.org/drawingml/2006/main">
              <a:ext uri="{FF2B5EF4-FFF2-40B4-BE49-F238E27FC236}">
                <a16:creationId xmlns:a16="http://schemas.microsoft.com/office/drawing/2014/main" id="{BDAD71DE-AF8A-4B19-B7A9-7D19FB4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25" y="25622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700" b="0">
                <a:solidFill>
                  <a:srgbClr val="4D4D4D"/>
                </a:solidFill>
              </a:defRPr>
            </a:defPPr>
            <a:lvl1pPr algn="ctr">
              <a:defRPr sz="2700" b="0">
                <a:solidFill>
                  <a:srgbClr val="4D4D4D"/>
                </a:solidFill>
              </a:defRPr>
            </a:lvl1pPr>
            <a:lvl2pPr algn="ctr">
              <a:defRPr sz="2700" b="0">
                <a:solidFill>
                  <a:srgbClr val="4D4D4D"/>
                </a:solidFill>
              </a:defRPr>
            </a:lvl2pPr>
            <a:lvl3pPr algn="ctr">
              <a:defRPr sz="2700" b="0">
                <a:solidFill>
                  <a:srgbClr val="4D4D4D"/>
                </a:solidFill>
              </a:defRPr>
            </a:lvl3pPr>
            <a:lvl4pPr algn="ctr">
              <a:defRPr sz="2700" b="0">
                <a:solidFill>
                  <a:srgbClr val="4D4D4D"/>
                </a:solidFill>
              </a:defRPr>
            </a:lvl4pPr>
            <a:lvl5pPr algn="ctr">
              <a:defRPr sz="2700" b="0">
                <a:solidFill>
                  <a:srgbClr val="4D4D4D"/>
                </a:solidFill>
              </a:defRPr>
            </a:lvl5pPr>
            <a:lvl6pPr algn="ctr">
              <a:defRPr sz="2700" b="0">
                <a:solidFill>
                  <a:srgbClr val="4D4D4D"/>
                </a:solidFill>
              </a:defRPr>
            </a:lvl6pPr>
            <a:lvl7pPr algn="ctr">
              <a:defRPr sz="2700" b="0">
                <a:solidFill>
                  <a:srgbClr val="4D4D4D"/>
                </a:solidFill>
              </a:defRPr>
            </a:lvl7pPr>
            <a:lvl8pPr algn="ctr">
              <a:defRPr sz="2700" b="0">
                <a:solidFill>
                  <a:srgbClr val="4D4D4D"/>
                </a:solidFill>
              </a:defRPr>
            </a:lvl8pPr>
            <a:lvl9pPr algn="ctr">
              <a:defRPr sz="27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D4D4D"/>
                </a:solidFill>
              </a:defRPr>
            </a:pPr>
            <a:r>
              <a:rPr sz="2700" b="0">
                <a:solidFill>
                  <a:srgbClr val="4D4D4D"/>
                </a:solidFill>
              </a:rPr>
              <a:t>0.1</a:t>
            </a:r>
          </a:p>
        </p:txBody>
      </p:sp>
      <p:sp>
        <p:nvSpPr>
          <p:cNvPr id="141" name="tick-0.3">
            <a:extLst xmlns:a="http://schemas.openxmlformats.org/drawingml/2006/main">
              <a:ext uri="{FF2B5EF4-FFF2-40B4-BE49-F238E27FC236}">
                <a16:creationId xmlns:a16="http://schemas.microsoft.com/office/drawing/2014/main" id="{C62944C8-2E0B-4424-9BAD-691E4403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9365" y="2533650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6666"/>
            </a:solidFill>
            <a:prstDash val="solid"/>
          </a:ln>
        </p:spPr>
      </p:sp>
      <p:sp>
        <p:nvSpPr>
          <p:cNvPr id="142" name="ticklabel-0.3">
            <a:extLst xmlns:a="http://schemas.openxmlformats.org/drawingml/2006/main">
              <a:ext uri="{FF2B5EF4-FFF2-40B4-BE49-F238E27FC236}">
                <a16:creationId xmlns:a16="http://schemas.microsoft.com/office/drawing/2014/main" id="{6BF31919-A659-468B-AD86-03A963EB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240" y="25622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700" b="0">
                <a:solidFill>
                  <a:srgbClr val="4D4D4D"/>
                </a:solidFill>
              </a:defRPr>
            </a:defPPr>
            <a:lvl1pPr algn="ctr">
              <a:defRPr sz="2700" b="0">
                <a:solidFill>
                  <a:srgbClr val="4D4D4D"/>
                </a:solidFill>
              </a:defRPr>
            </a:lvl1pPr>
            <a:lvl2pPr algn="ctr">
              <a:defRPr sz="2700" b="0">
                <a:solidFill>
                  <a:srgbClr val="4D4D4D"/>
                </a:solidFill>
              </a:defRPr>
            </a:lvl2pPr>
            <a:lvl3pPr algn="ctr">
              <a:defRPr sz="2700" b="0">
                <a:solidFill>
                  <a:srgbClr val="4D4D4D"/>
                </a:solidFill>
              </a:defRPr>
            </a:lvl3pPr>
            <a:lvl4pPr algn="ctr">
              <a:defRPr sz="2700" b="0">
                <a:solidFill>
                  <a:srgbClr val="4D4D4D"/>
                </a:solidFill>
              </a:defRPr>
            </a:lvl4pPr>
            <a:lvl5pPr algn="ctr">
              <a:defRPr sz="2700" b="0">
                <a:solidFill>
                  <a:srgbClr val="4D4D4D"/>
                </a:solidFill>
              </a:defRPr>
            </a:lvl5pPr>
            <a:lvl6pPr algn="ctr">
              <a:defRPr sz="2700" b="0">
                <a:solidFill>
                  <a:srgbClr val="4D4D4D"/>
                </a:solidFill>
              </a:defRPr>
            </a:lvl6pPr>
            <a:lvl7pPr algn="ctr">
              <a:defRPr sz="2700" b="0">
                <a:solidFill>
                  <a:srgbClr val="4D4D4D"/>
                </a:solidFill>
              </a:defRPr>
            </a:lvl7pPr>
            <a:lvl8pPr algn="ctr">
              <a:defRPr sz="2700" b="0">
                <a:solidFill>
                  <a:srgbClr val="4D4D4D"/>
                </a:solidFill>
              </a:defRPr>
            </a:lvl8pPr>
            <a:lvl9pPr algn="ctr">
              <a:defRPr sz="27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D4D4D"/>
                </a:solidFill>
              </a:defRPr>
            </a:pPr>
            <a:r>
              <a:rPr sz="2700" b="0">
                <a:solidFill>
                  <a:srgbClr val="4D4D4D"/>
                </a:solidFill>
              </a:rPr>
              <a:t>0.3</a:t>
            </a:r>
          </a:p>
        </p:txBody>
      </p:sp>
      <p:sp>
        <p:nvSpPr>
          <p:cNvPr id="143" name="tick-1">
            <a:extLst xmlns:a="http://schemas.openxmlformats.org/drawingml/2006/main">
              <a:ext uri="{FF2B5EF4-FFF2-40B4-BE49-F238E27FC236}">
                <a16:creationId xmlns:a16="http://schemas.microsoft.com/office/drawing/2014/main" id="{FA73FEA8-3323-4F0F-BA85-CADD51B6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0" y="2533650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6666"/>
            </a:solidFill>
            <a:prstDash val="solid"/>
          </a:ln>
        </p:spPr>
      </p:sp>
      <p:sp>
        <p:nvSpPr>
          <p:cNvPr id="144" name="ticklabel-1">
            <a:extLst xmlns:a="http://schemas.openxmlformats.org/drawingml/2006/main">
              <a:ext uri="{FF2B5EF4-FFF2-40B4-BE49-F238E27FC236}">
                <a16:creationId xmlns:a16="http://schemas.microsoft.com/office/drawing/2014/main" id="{A4E95662-403A-4766-A7DA-F40F37D2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1625" y="25622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700" b="0">
                <a:solidFill>
                  <a:srgbClr val="4D4D4D"/>
                </a:solidFill>
              </a:defRPr>
            </a:defPPr>
            <a:lvl1pPr algn="ctr">
              <a:defRPr sz="2700" b="0">
                <a:solidFill>
                  <a:srgbClr val="4D4D4D"/>
                </a:solidFill>
              </a:defRPr>
            </a:lvl1pPr>
            <a:lvl2pPr algn="ctr">
              <a:defRPr sz="2700" b="0">
                <a:solidFill>
                  <a:srgbClr val="4D4D4D"/>
                </a:solidFill>
              </a:defRPr>
            </a:lvl2pPr>
            <a:lvl3pPr algn="ctr">
              <a:defRPr sz="2700" b="0">
                <a:solidFill>
                  <a:srgbClr val="4D4D4D"/>
                </a:solidFill>
              </a:defRPr>
            </a:lvl3pPr>
            <a:lvl4pPr algn="ctr">
              <a:defRPr sz="2700" b="0">
                <a:solidFill>
                  <a:srgbClr val="4D4D4D"/>
                </a:solidFill>
              </a:defRPr>
            </a:lvl4pPr>
            <a:lvl5pPr algn="ctr">
              <a:defRPr sz="2700" b="0">
                <a:solidFill>
                  <a:srgbClr val="4D4D4D"/>
                </a:solidFill>
              </a:defRPr>
            </a:lvl5pPr>
            <a:lvl6pPr algn="ctr">
              <a:defRPr sz="2700" b="0">
                <a:solidFill>
                  <a:srgbClr val="4D4D4D"/>
                </a:solidFill>
              </a:defRPr>
            </a:lvl6pPr>
            <a:lvl7pPr algn="ctr">
              <a:defRPr sz="2700" b="0">
                <a:solidFill>
                  <a:srgbClr val="4D4D4D"/>
                </a:solidFill>
              </a:defRPr>
            </a:lvl7pPr>
            <a:lvl8pPr algn="ctr">
              <a:defRPr sz="2700" b="0">
                <a:solidFill>
                  <a:srgbClr val="4D4D4D"/>
                </a:solidFill>
              </a:defRPr>
            </a:lvl8pPr>
            <a:lvl9pPr algn="ctr">
              <a:defRPr sz="27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D4D4D"/>
                </a:solidFill>
              </a:defRPr>
            </a:pPr>
            <a:r>
              <a:rPr sz="2700" b="0">
                <a:solidFill>
                  <a:srgbClr val="4D4D4D"/>
                </a:solidFill>
              </a:rPr>
              <a:t>1</a:t>
            </a:r>
          </a:p>
        </p:txBody>
      </p:sp>
      <p:sp>
        <p:nvSpPr>
          <p:cNvPr id="145" name="tick-3">
            <a:extLst xmlns:a="http://schemas.openxmlformats.org/drawingml/2006/main">
              <a:ext uri="{FF2B5EF4-FFF2-40B4-BE49-F238E27FC236}">
                <a16:creationId xmlns:a16="http://schemas.microsoft.com/office/drawing/2014/main" id="{1C7AD5B0-ECCD-4933-8B67-4E7C8988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0365" y="2533650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6666"/>
            </a:solidFill>
            <a:prstDash val="solid"/>
          </a:ln>
        </p:spPr>
      </p:sp>
      <p:sp>
        <p:nvSpPr>
          <p:cNvPr id="146" name="ticklabel-3">
            <a:extLst xmlns:a="http://schemas.openxmlformats.org/drawingml/2006/main">
              <a:ext uri="{FF2B5EF4-FFF2-40B4-BE49-F238E27FC236}">
                <a16:creationId xmlns:a16="http://schemas.microsoft.com/office/drawing/2014/main" id="{D2A3C74E-4782-409E-9FDE-D4AE0C58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240" y="256222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700" b="0">
                <a:solidFill>
                  <a:srgbClr val="4D4D4D"/>
                </a:solidFill>
              </a:defRPr>
            </a:defPPr>
            <a:lvl1pPr algn="ctr">
              <a:defRPr sz="2700" b="0">
                <a:solidFill>
                  <a:srgbClr val="4D4D4D"/>
                </a:solidFill>
              </a:defRPr>
            </a:lvl1pPr>
            <a:lvl2pPr algn="ctr">
              <a:defRPr sz="2700" b="0">
                <a:solidFill>
                  <a:srgbClr val="4D4D4D"/>
                </a:solidFill>
              </a:defRPr>
            </a:lvl2pPr>
            <a:lvl3pPr algn="ctr">
              <a:defRPr sz="2700" b="0">
                <a:solidFill>
                  <a:srgbClr val="4D4D4D"/>
                </a:solidFill>
              </a:defRPr>
            </a:lvl3pPr>
            <a:lvl4pPr algn="ctr">
              <a:defRPr sz="2700" b="0">
                <a:solidFill>
                  <a:srgbClr val="4D4D4D"/>
                </a:solidFill>
              </a:defRPr>
            </a:lvl4pPr>
            <a:lvl5pPr algn="ctr">
              <a:defRPr sz="2700" b="0">
                <a:solidFill>
                  <a:srgbClr val="4D4D4D"/>
                </a:solidFill>
              </a:defRPr>
            </a:lvl5pPr>
            <a:lvl6pPr algn="ctr">
              <a:defRPr sz="2700" b="0">
                <a:solidFill>
                  <a:srgbClr val="4D4D4D"/>
                </a:solidFill>
              </a:defRPr>
            </a:lvl6pPr>
            <a:lvl7pPr algn="ctr">
              <a:defRPr sz="2700" b="0">
                <a:solidFill>
                  <a:srgbClr val="4D4D4D"/>
                </a:solidFill>
              </a:defRPr>
            </a:lvl7pPr>
            <a:lvl8pPr algn="ctr">
              <a:defRPr sz="2700" b="0">
                <a:solidFill>
                  <a:srgbClr val="4D4D4D"/>
                </a:solidFill>
              </a:defRPr>
            </a:lvl8pPr>
            <a:lvl9pPr algn="ctr">
              <a:defRPr sz="27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D4D4D"/>
                </a:solidFill>
              </a:defRPr>
            </a:pPr>
            <a:r>
              <a:rPr sz="2700" b="0">
                <a:solidFill>
                  <a:srgbClr val="4D4D4D"/>
                </a:solidFill>
              </a:rPr>
              <a:t>3</a:t>
            </a:r>
          </a:p>
        </p:txBody>
      </p:sp>
      <p:sp>
        <p:nvSpPr>
          <p:cNvPr id="147" name="axis-caption">
            <a:extLst xmlns:a="http://schemas.openxmlformats.org/drawingml/2006/main">
              <a:ext uri="{FF2B5EF4-FFF2-40B4-BE49-F238E27FC236}">
                <a16:creationId xmlns:a16="http://schemas.microsoft.com/office/drawing/2014/main" id="{7395A53E-05CE-4943-A5F9-12CADA53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6479500"/>
            <a:ext cx="11887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000" b="0">
                <a:solidFill>
                  <a:srgbClr val="4D4D4D"/>
                </a:solidFill>
              </a:defRPr>
            </a:defPPr>
            <a:lvl1pPr algn="ctr">
              <a:defRPr sz="3000" b="0">
                <a:solidFill>
                  <a:srgbClr val="4D4D4D"/>
                </a:solidFill>
              </a:defRPr>
            </a:lvl1pPr>
            <a:lvl2pPr algn="ctr">
              <a:defRPr sz="3000" b="0">
                <a:solidFill>
                  <a:srgbClr val="4D4D4D"/>
                </a:solidFill>
              </a:defRPr>
            </a:lvl2pPr>
            <a:lvl3pPr algn="ctr">
              <a:defRPr sz="3000" b="0">
                <a:solidFill>
                  <a:srgbClr val="4D4D4D"/>
                </a:solidFill>
              </a:defRPr>
            </a:lvl3pPr>
            <a:lvl4pPr algn="ctr">
              <a:defRPr sz="3000" b="0">
                <a:solidFill>
                  <a:srgbClr val="4D4D4D"/>
                </a:solidFill>
              </a:defRPr>
            </a:lvl4pPr>
            <a:lvl5pPr algn="ctr">
              <a:defRPr sz="3000" b="0">
                <a:solidFill>
                  <a:srgbClr val="4D4D4D"/>
                </a:solidFill>
              </a:defRPr>
            </a:lvl5pPr>
            <a:lvl6pPr algn="ctr">
              <a:defRPr sz="3000" b="0">
                <a:solidFill>
                  <a:srgbClr val="4D4D4D"/>
                </a:solidFill>
              </a:defRPr>
            </a:lvl6pPr>
            <a:lvl7pPr algn="ctr">
              <a:defRPr sz="3000" b="0">
                <a:solidFill>
                  <a:srgbClr val="4D4D4D"/>
                </a:solidFill>
              </a:defRPr>
            </a:lvl7pPr>
            <a:lvl8pPr algn="ctr">
              <a:defRPr sz="3000" b="0">
                <a:solidFill>
                  <a:srgbClr val="4D4D4D"/>
                </a:solidFill>
              </a:defRPr>
            </a:lvl8pPr>
            <a:lvl9pPr algn="ctr">
              <a:defRPr sz="300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4D4D4D"/>
                </a:solidFill>
              </a:defRPr>
            </a:pPr>
            <a:r>
              <a:rPr sz="3000" b="0">
                <a:solidFill>
                  <a:srgbClr val="4D4D4D"/>
                </a:solidFill>
              </a:rPr>
              <a:t>Adjusted odds ratio (log scale), 95% confidence interval</a:t>
            </a:r>
          </a:p>
        </p:txBody>
      </p:sp>
      <p:sp>
        <p:nvSpPr>
          <p:cNvPr id="148" name="checks-heading">
            <a:extLst xmlns:a="http://schemas.openxmlformats.org/drawingml/2006/main">
              <a:ext uri="{FF2B5EF4-FFF2-40B4-BE49-F238E27FC236}">
                <a16:creationId xmlns:a16="http://schemas.microsoft.com/office/drawing/2014/main" id="{C5CEC2EE-F457-4561-9B86-BD7A6516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7717750"/>
            <a:ext cx="1188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1">
                <a:solidFill>
                  <a:srgbClr val="4D4D4D"/>
                </a:solidFill>
              </a:defRPr>
            </a:defPPr>
            <a:lvl1pPr algn="l">
              <a:defRPr sz="4050" b="1">
                <a:solidFill>
                  <a:srgbClr val="4D4D4D"/>
                </a:solidFill>
              </a:defRPr>
            </a:lvl1pPr>
            <a:lvl2pPr algn="l">
              <a:defRPr sz="4050" b="1">
                <a:solidFill>
                  <a:srgbClr val="4D4D4D"/>
                </a:solidFill>
              </a:defRPr>
            </a:lvl2pPr>
            <a:lvl3pPr algn="l">
              <a:defRPr sz="4050" b="1">
                <a:solidFill>
                  <a:srgbClr val="4D4D4D"/>
                </a:solidFill>
              </a:defRPr>
            </a:lvl3pPr>
            <a:lvl4pPr algn="l">
              <a:defRPr sz="4050" b="1">
                <a:solidFill>
                  <a:srgbClr val="4D4D4D"/>
                </a:solidFill>
              </a:defRPr>
            </a:lvl4pPr>
            <a:lvl5pPr algn="l">
              <a:defRPr sz="4050" b="1">
                <a:solidFill>
                  <a:srgbClr val="4D4D4D"/>
                </a:solidFill>
              </a:defRPr>
            </a:lvl5pPr>
            <a:lvl6pPr algn="l">
              <a:defRPr sz="4050" b="1">
                <a:solidFill>
                  <a:srgbClr val="4D4D4D"/>
                </a:solidFill>
              </a:defRPr>
            </a:lvl6pPr>
            <a:lvl7pPr algn="l">
              <a:defRPr sz="4050" b="1">
                <a:solidFill>
                  <a:srgbClr val="4D4D4D"/>
                </a:solidFill>
              </a:defRPr>
            </a:lvl7pPr>
            <a:lvl8pPr algn="l">
              <a:defRPr sz="4050" b="1">
                <a:solidFill>
                  <a:srgbClr val="4D4D4D"/>
                </a:solidFill>
              </a:defRPr>
            </a:lvl8pPr>
            <a:lvl9pPr algn="l">
              <a:defRPr sz="4050" b="1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4D4D4D"/>
                </a:solidFill>
              </a:defRPr>
            </a:pPr>
            <a:r>
              <a:rPr sz="4050" b="1">
                <a:solidFill>
                  <a:srgbClr val="4D4D4D"/>
                </a:solidFill>
              </a:rPr>
              <a:t>Model checks and weighting audit</a:t>
            </a:r>
          </a:p>
        </p:txBody>
      </p:sp>
      <p:sp>
        <p:nvSpPr>
          <p:cNvPr id="149" name="checks">
            <a:extLst xmlns:a="http://schemas.openxmlformats.org/drawingml/2006/main">
              <a:ext uri="{FF2B5EF4-FFF2-40B4-BE49-F238E27FC236}">
                <a16:creationId xmlns:a16="http://schemas.microsoft.com/office/drawing/2014/main" id="{C2D11EF4-615B-4367-BD98-5FFE3CEC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8670250"/>
            <a:ext cx="118872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0">
                <a:solidFill>
                  <a:srgbClr val="4D4D4D"/>
                </a:solidFill>
              </a:defRPr>
            </a:defPPr>
            <a:lvl1pPr algn="l">
              <a:defRPr sz="2850" b="0">
                <a:solidFill>
                  <a:srgbClr val="4D4D4D"/>
                </a:solidFill>
              </a:defRPr>
            </a:lvl1pPr>
            <a:lvl2pPr algn="l">
              <a:defRPr sz="2850" b="0">
                <a:solidFill>
                  <a:srgbClr val="4D4D4D"/>
                </a:solidFill>
              </a:defRPr>
            </a:lvl2pPr>
            <a:lvl3pPr algn="l">
              <a:defRPr sz="2850" b="0">
                <a:solidFill>
                  <a:srgbClr val="4D4D4D"/>
                </a:solidFill>
              </a:defRPr>
            </a:lvl3pPr>
            <a:lvl4pPr algn="l">
              <a:defRPr sz="2850" b="0">
                <a:solidFill>
                  <a:srgbClr val="4D4D4D"/>
                </a:solidFill>
              </a:defRPr>
            </a:lvl4pPr>
            <a:lvl5pPr algn="l">
              <a:defRPr sz="2850" b="0">
                <a:solidFill>
                  <a:srgbClr val="4D4D4D"/>
                </a:solidFill>
              </a:defRPr>
            </a:lvl5pPr>
            <a:lvl6pPr algn="l">
              <a:defRPr sz="2850" b="0">
                <a:solidFill>
                  <a:srgbClr val="4D4D4D"/>
                </a:solidFill>
              </a:defRPr>
            </a:lvl6pPr>
            <a:lvl7pPr algn="l">
              <a:defRPr sz="2850" b="0">
                <a:solidFill>
                  <a:srgbClr val="4D4D4D"/>
                </a:solidFill>
              </a:defRPr>
            </a:lvl7pPr>
            <a:lvl8pPr algn="l">
              <a:defRPr sz="2850" b="0">
                <a:solidFill>
                  <a:srgbClr val="4D4D4D"/>
                </a:solidFill>
              </a:defRPr>
            </a:lvl8pPr>
            <a:lvl9pPr algn="l">
              <a:defRPr sz="2850" b="0">
                <a:solidFill>
                  <a:srgbClr val="4D4D4D"/>
                </a:solidFill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4D4D4D"/>
                </a:solidFill>
              </a:defRPr>
            </a:pPr>
            <a:r>
              <a:rPr sz="2850" b="0">
                <a:solidFill>
                  <a:srgbClr val="4D4D4D"/>
                </a:solidFill>
              </a:rPr>
              <a:t>R/Python estimates agreed. Maximum selected-coefficient change after deleting one PSU: 0.286 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850" b="0">
                <a:solidFill>
                  <a:srgbClr val="4D4D4D"/>
                </a:solidFill>
              </a:defRPr>
            </a:pPr>
            <a:r>
              <a:rPr sz="2850" b="0">
                <a:solidFill>
                  <a:srgbClr val="4D4D4D"/>
                </a:solidFill>
              </a:rPr>
              <a:t>Held-out-PSU AUC: 0.793. Calibration slope: 0.885. Possible misspecification (exploratory p ≈ 0.0205).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850" b="0">
                <a:solidFill>
                  <a:srgbClr val="4D4D4D"/>
                </a:solidFill>
              </a:defRPr>
            </a:pPr>
            <a:r>
              <a:rPr sz="2850" b="0">
                <a:solidFill>
                  <a:srgbClr val="4D4D4D"/>
                </a:solidFill>
              </a:rPr>
              <a:t>Constant long-form selection factor (45/30): estimates and Taylor SEs unchanged.</a:t>
            </a:r>
          </a:p>
        </p:txBody>
      </p:sp>
    </p:spTree>
    <p:extLst>
      <p:ext uri="{BB962C8B-B14F-4D97-AF65-F5344CB8AC3E}">
        <p14:creationId xmlns:p14="http://schemas.microsoft.com/office/powerpoint/2010/main" val="1359085081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2026-10-19T18:54:43.5050000Z</dcterms:created>
  <dcterms:modified xsi:type="dcterms:W3CDTF">2026-10-19T18:54:43.5050000Z</dcterms:modified>
</coreProperties>
</file>